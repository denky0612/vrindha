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if a cybersecurity system could continuously monitor threats, understand what is happening, connect information from different systems, and recommend the right defensive action—while still keeping humans in control? Honourable judges, today we present Vrindha AI: an intelligent, AI-powered cybersecurity and SOC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Honourable judges, we present Vrindha AI — an intelligent cybersecurity platform designed to assist a Security Operations Center, threat intelligence operations, incident investigation, monitoring, risk analysis, and defensive response. Our long-term vision is a coordinated cybersecurity organization where specialized AI modules work together, while humans remain responsible for important and high-impact decisions.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today is not a shortage of tools. It is a shortage of coordination. Attacks move faster than isolated dashboards. A SOC — a Security Operations Center — is the team that watches alerts and investigates incidents. At scale, that work becomes overwhelming.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traditional SOC operations become difficult at scale? Because the work is still mostly sequential and human-limited: see an alert, search another system, check a threat feed, write notes, then decide. When telemetry multiplies, that chain breaks. We needed a coordinated intelligence layer — not another isolated detector.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Vrindha AI. Instead of treating cybersecurity tools as isolated systems, we are creating a coordinated intelligence layer. Vrindha assists SOC operations, threat intelligence, investigation, risk analysis, and defensive response. It is designed to amplify cybersecurity professionals — not replace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telemetry arrives. The SOC detects suspicious activity. Threat Intelligence checks whether the indicator is known. The risk engine evaluates severity. The SOC Analyst AI investigates. Commander AI coordinates the response. A human administrator approves high-impact actions. Then the system stores the incident and learns. Detect. Understand. Correlate. Analyze. Recommend. Human approval. Defend. Learn.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SOC watches what is happening inside the organization. Threat Intelligence explains whether that activity is known in the wider threat landscape. An indicator of compromise — an IOC — is a clue such as a malicious IP or file hash. When these two work together, a suspicious IP is no longer just an alert. It becomes context: known actor, known campaign, known risk.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Vrindha is not one model doing everything. Commander AI oversees. Threat Intelligence AI collects and explains threats. SOC Analyst AI investigates. Data Science AI improves detection. Infrastructure AI watches systems. Knowledge AI remembers incidents. Ethics and Compliance AI prevents inappropriate autonomous decisions. Each has a role. Together they form a team.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works like hive intelligence — a coordinated team of specialized agents. Information from one module improves another. A suspicious IP found by the SOC is sent to Threat Intelligence. If it is a known threat, the risk score rises. The Analyst AI investigates related events. Commander AI coordinates. Knowledge AI stores the lesson. That is how the hive learns.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future vision is a network of authorized computers. Each member can contribute telemetry, logs, threat intelligence, malware indicators, detection rules, model updates, and incident information. The central AI correlates that information and sends useful defensive intelligence back. Participation is voluntary, authorized, authenticated, encrypted, and audited. This is not unauthorized access to computers.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safety principle: Vrindha is designed primarily for defensive cybersecurity. It should not autonomously launch attacks or perform unauthorized offensive operations. For high-impact actions, human approval remains required. We are not building an uncontrolled autonomous hacker. We are building an AI-assisted cybersecurity organization with accountability and safety controls.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makes Vrindha different is the coordination of specialized AI capabilities. A suspicious IP detected by the SOC can be sent to Threat Intelligence. Threat Intelligence can determine whether that IP is associated with a known threat. The risk engine can then raise or lower the score. The SOC Analyst AI investigates related events. Commander AI coordinates. The system stores the incident and uses the lesson to improve future detection.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Vrindha can grow as a coordinated organization: more authorized nodes, stronger models trained on historical incidents, richer situation reports, and safer distribution of defensive intelligence. The architecture is designed so new modules can join without bypassing safety, authorization, or human approval.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world, this means a SOC that understands faster, misses fewer connections, responds more safely, and remembers what it has already learned. We are not claiming a system that stops every attack. We are building a system that makes defensive teams stronger, calmer, and more accountable.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vision with Vrindha is not to build an AI that acts without limits. Our vision is to build an AI that understands threats, coordinates intelligence, assists humans, learns from incidents, and protects systems responsibly. Because the future of cybersecurity is not humans versus AI. It is humans and AI working together — with intelligence, authorization, and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honourable judges and the audience.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le_hero.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4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6949440"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itle_hero.png"/>
          <p:cNvPicPr>
            <a:picLocks noChangeAspect="1"/>
          </p:cNvPicPr>
          <p:nvPr/>
        </p:nvPicPr>
        <p:blipFill>
          <a:blip r:embed="rId2"/>
          <a:stretch>
            <a:fillRect/>
          </a:stretch>
        </p:blipFill>
        <p:spPr>
          <a:xfrm>
            <a:off x="5852160" y="0"/>
            <a:ext cx="6345936" cy="6858000"/>
          </a:xfrm>
          <a:prstGeom prst="rect">
            <a:avLst/>
          </a:prstGeom>
        </p:spPr>
      </p:pic>
      <p:sp>
        <p:nvSpPr>
          <p:cNvPr id="6" name="Rectangle 5"/>
          <p:cNvSpPr/>
          <p:nvPr/>
        </p:nvSpPr>
        <p:spPr>
          <a:xfrm>
            <a:off x="5669280" y="0"/>
            <a:ext cx="320040"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51560"/>
            <a:ext cx="6035040" cy="274320"/>
          </a:xfrm>
          <a:prstGeom prst="rect">
            <a:avLst/>
          </a:prstGeom>
          <a:noFill/>
        </p:spPr>
        <p:txBody>
          <a:bodyPr wrap="square" anchor="t"/>
          <a:lstStyle/>
          <a:p>
            <a:pPr algn="l"/>
            <a:r>
              <a:rPr sz="1300" b="1" i="0">
                <a:solidFill>
                  <a:srgbClr val="22D3EE"/>
                </a:solidFill>
                <a:latin typeface="Calibri"/>
              </a:rPr>
              <a:t>COMPETITION PRESENTATION</a:t>
            </a:r>
          </a:p>
        </p:txBody>
      </p:sp>
      <p:sp>
        <p:nvSpPr>
          <p:cNvPr id="8" name="TextBox 7"/>
          <p:cNvSpPr txBox="1"/>
          <p:nvPr/>
        </p:nvSpPr>
        <p:spPr>
          <a:xfrm>
            <a:off x="502920" y="1417320"/>
            <a:ext cx="6035040" cy="1371600"/>
          </a:xfrm>
          <a:prstGeom prst="rect">
            <a:avLst/>
          </a:prstGeom>
          <a:noFill/>
        </p:spPr>
        <p:txBody>
          <a:bodyPr wrap="square" anchor="t"/>
          <a:lstStyle/>
          <a:p>
            <a:pPr algn="l"/>
            <a:r>
              <a:rPr sz="5400" b="1" i="0">
                <a:solidFill>
                  <a:srgbClr val="F5F7FA"/>
                </a:solidFill>
                <a:latin typeface="Calibri"/>
              </a:rPr>
              <a:t>Vrindha AI</a:t>
            </a:r>
          </a:p>
        </p:txBody>
      </p:sp>
      <p:sp>
        <p:nvSpPr>
          <p:cNvPr id="9" name="TextBox 8"/>
          <p:cNvSpPr txBox="1"/>
          <p:nvPr/>
        </p:nvSpPr>
        <p:spPr>
          <a:xfrm>
            <a:off x="502920" y="2788920"/>
            <a:ext cx="5852160" cy="1051560"/>
          </a:xfrm>
          <a:prstGeom prst="rect">
            <a:avLst/>
          </a:prstGeom>
          <a:noFill/>
        </p:spPr>
        <p:txBody>
          <a:bodyPr wrap="square" anchor="t"/>
          <a:lstStyle/>
          <a:p>
            <a:pPr algn="l"/>
            <a:r>
              <a:rPr sz="2200" b="0" i="0">
                <a:solidFill>
                  <a:srgbClr val="E8C36A"/>
                </a:solidFill>
                <a:latin typeface="Calibri"/>
              </a:rPr>
              <a:t>Intelligent AI-Powered
Cybersecurity and SOC System</a:t>
            </a:r>
          </a:p>
        </p:txBody>
      </p:sp>
      <p:sp>
        <p:nvSpPr>
          <p:cNvPr id="10" name="Rectangle 9"/>
          <p:cNvSpPr/>
          <p:nvPr/>
        </p:nvSpPr>
        <p:spPr>
          <a:xfrm>
            <a:off x="502920" y="3977639"/>
            <a:ext cx="1463040" cy="4445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160520"/>
            <a:ext cx="5760720" cy="1371600"/>
          </a:xfrm>
          <a:prstGeom prst="rect">
            <a:avLst/>
          </a:prstGeom>
          <a:noFill/>
        </p:spPr>
        <p:txBody>
          <a:bodyPr wrap="square" anchor="t"/>
          <a:lstStyle/>
          <a:p>
            <a:pPr algn="l"/>
            <a:r>
              <a:rPr sz="1500" b="0" i="1">
                <a:solidFill>
                  <a:srgbClr val="CBD5E1"/>
                </a:solidFill>
                <a:latin typeface="Calibri"/>
              </a:rPr>
              <a:t>What if a cybersecurity system could continuously monitor threats, understand what is happening, connect information, and recommend the right defensive action—while still keeping humans in control?</a:t>
            </a:r>
          </a:p>
        </p:txBody>
      </p:sp>
      <p:sp>
        <p:nvSpPr>
          <p:cNvPr id="12" name="TextBox 11"/>
          <p:cNvSpPr txBox="1"/>
          <p:nvPr/>
        </p:nvSpPr>
        <p:spPr>
          <a:xfrm>
            <a:off x="502920" y="5989320"/>
            <a:ext cx="5760720" cy="320040"/>
          </a:xfrm>
          <a:prstGeom prst="rect">
            <a:avLst/>
          </a:prstGeom>
          <a:noFill/>
        </p:spPr>
        <p:txBody>
          <a:bodyPr wrap="square" anchor="t"/>
          <a:lstStyle/>
          <a:p>
            <a:pPr algn="l"/>
            <a:r>
              <a:rPr sz="1300" b="0" i="0">
                <a:solidFill>
                  <a:srgbClr val="9AABC4"/>
                </a:solidFill>
                <a:latin typeface="Calibri"/>
              </a:rPr>
              <a:t>Defensive  ·  Coordinated  ·  Human-authorized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510528"/>
            <a:ext cx="7315200" cy="256032"/>
          </a:xfrm>
          <a:prstGeom prst="rect">
            <a:avLst/>
          </a:prstGeom>
          <a:noFill/>
        </p:spPr>
        <p:txBody>
          <a:bodyPr wrap="square" anchor="t"/>
          <a:lstStyle/>
          <a:p>
            <a:pPr algn="l"/>
            <a:r>
              <a:rPr sz="1100" b="0" i="0">
                <a:solidFill>
                  <a:srgbClr val="9AABC4"/>
                </a:solidFill>
                <a:latin typeface="Calibri"/>
              </a:rPr>
              <a:t>VRINDHA AI  ·  Intelligent Cybersecurity &amp; SOC System</a:t>
            </a:r>
          </a:p>
        </p:txBody>
      </p:sp>
      <p:sp>
        <p:nvSpPr>
          <p:cNvPr id="5" name="TextBox 4"/>
          <p:cNvSpPr txBox="1"/>
          <p:nvPr/>
        </p:nvSpPr>
        <p:spPr>
          <a:xfrm>
            <a:off x="10607040" y="6510528"/>
            <a:ext cx="1280160" cy="256032"/>
          </a:xfrm>
          <a:prstGeom prst="rect">
            <a:avLst/>
          </a:prstGeom>
          <a:noFill/>
        </p:spPr>
        <p:txBody>
          <a:bodyPr wrap="square" anchor="t"/>
          <a:lstStyle/>
          <a:p>
            <a:pPr algn="r"/>
            <a:r>
              <a:rPr sz="1100" b="0" i="0">
                <a:solidFill>
                  <a:srgbClr val="9AABC4"/>
                </a:solidFill>
                <a:latin typeface="Calibri"/>
              </a:rPr>
              <a:t>02  /  16</a:t>
            </a:r>
          </a:p>
        </p:txBody>
      </p:sp>
      <p:sp>
        <p:nvSpPr>
          <p:cNvPr id="6" name="TextBox 5"/>
          <p:cNvSpPr txBox="1"/>
          <p:nvPr/>
        </p:nvSpPr>
        <p:spPr>
          <a:xfrm>
            <a:off x="457200" y="256032"/>
            <a:ext cx="10972800" cy="256032"/>
          </a:xfrm>
          <a:prstGeom prst="rect">
            <a:avLst/>
          </a:prstGeom>
          <a:noFill/>
        </p:spPr>
        <p:txBody>
          <a:bodyPr wrap="square" anchor="t"/>
          <a:lstStyle/>
          <a:p>
            <a:pPr algn="l"/>
            <a:r>
              <a:rPr sz="1200" b="1" i="0">
                <a:solidFill>
                  <a:srgbClr val="22D3EE"/>
                </a:solidFill>
                <a:latin typeface="Calibri"/>
              </a:rPr>
              <a:t>01  ·  INTRODUCTION</a:t>
            </a:r>
          </a:p>
        </p:txBody>
      </p:sp>
      <p:sp>
        <p:nvSpPr>
          <p:cNvPr id="7" name="TextBox 6"/>
          <p:cNvSpPr txBox="1"/>
          <p:nvPr/>
        </p:nvSpPr>
        <p:spPr>
          <a:xfrm>
            <a:off x="457200" y="475488"/>
            <a:ext cx="11247120" cy="640080"/>
          </a:xfrm>
          <a:prstGeom prst="rect">
            <a:avLst/>
          </a:prstGeom>
          <a:noFill/>
        </p:spPr>
        <p:txBody>
          <a:bodyPr wrap="square" anchor="t"/>
          <a:lstStyle/>
          <a:p>
            <a:pPr algn="l"/>
            <a:r>
              <a:rPr sz="3000" b="1" i="0">
                <a:solidFill>
                  <a:srgbClr val="F5F7FA"/>
                </a:solidFill>
                <a:latin typeface="Calibri"/>
              </a:rPr>
              <a:t>Greeting the bench</a:t>
            </a:r>
          </a:p>
        </p:txBody>
      </p:sp>
      <p:sp>
        <p:nvSpPr>
          <p:cNvPr id="8" name="Rectangle 7"/>
          <p:cNvSpPr/>
          <p:nvPr/>
        </p:nvSpPr>
        <p:spPr>
          <a:xfrm>
            <a:off x="457200" y="1097280"/>
            <a:ext cx="1280160" cy="4445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71600"/>
            <a:ext cx="11155680" cy="1005840"/>
          </a:xfrm>
          <a:prstGeom prst="rect">
            <a:avLst/>
          </a:prstGeom>
          <a:noFill/>
        </p:spPr>
        <p:txBody>
          <a:bodyPr wrap="square" anchor="t"/>
          <a:lstStyle/>
          <a:p>
            <a:pPr algn="l"/>
            <a:r>
              <a:rPr sz="2000" b="0" i="0">
                <a:solidFill>
                  <a:srgbClr val="F5F7FA"/>
                </a:solidFill>
                <a:latin typeface="Calibri"/>
              </a:rPr>
              <a:t>Honourable judges, respected faculty, and fellow participants — thank you.
We are here to present Vrindha AI.</a:t>
            </a:r>
          </a:p>
        </p:txBody>
      </p:sp>
      <p:sp>
        <p:nvSpPr>
          <p:cNvPr id="10" name="Rounded Rectangle 9"/>
          <p:cNvSpPr/>
          <p:nvPr/>
        </p:nvSpPr>
        <p:spPr>
          <a:xfrm>
            <a:off x="457200" y="2743200"/>
            <a:ext cx="3611880" cy="288036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743200"/>
            <a:ext cx="64008" cy="28803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889504"/>
            <a:ext cx="3291840" cy="219456"/>
          </a:xfrm>
          <a:prstGeom prst="rect">
            <a:avLst/>
          </a:prstGeom>
          <a:noFill/>
        </p:spPr>
        <p:txBody>
          <a:bodyPr wrap="square" anchor="t"/>
          <a:lstStyle/>
          <a:p>
            <a:pPr algn="l"/>
            <a:r>
              <a:rPr sz="1100" b="1" i="0">
                <a:solidFill>
                  <a:srgbClr val="22D3EE"/>
                </a:solidFill>
                <a:latin typeface="Calibri"/>
              </a:rPr>
              <a:t>01</a:t>
            </a:r>
          </a:p>
        </p:txBody>
      </p:sp>
      <p:sp>
        <p:nvSpPr>
          <p:cNvPr id="13" name="TextBox 12"/>
          <p:cNvSpPr txBox="1"/>
          <p:nvPr/>
        </p:nvSpPr>
        <p:spPr>
          <a:xfrm>
            <a:off x="658368" y="3127248"/>
            <a:ext cx="3291840" cy="329184"/>
          </a:xfrm>
          <a:prstGeom prst="rect">
            <a:avLst/>
          </a:prstGeom>
          <a:noFill/>
        </p:spPr>
        <p:txBody>
          <a:bodyPr wrap="square" anchor="t"/>
          <a:lstStyle/>
          <a:p>
            <a:pPr algn="l"/>
            <a:r>
              <a:rPr sz="1600" b="1" i="0">
                <a:solidFill>
                  <a:srgbClr val="F5F7FA"/>
                </a:solidFill>
                <a:latin typeface="Calibri"/>
              </a:rPr>
              <a:t>What we built</a:t>
            </a:r>
          </a:p>
        </p:txBody>
      </p:sp>
      <p:sp>
        <p:nvSpPr>
          <p:cNvPr id="14" name="TextBox 13"/>
          <p:cNvSpPr txBox="1"/>
          <p:nvPr/>
        </p:nvSpPr>
        <p:spPr>
          <a:xfrm>
            <a:off x="658368" y="3456432"/>
            <a:ext cx="3291840" cy="2057400"/>
          </a:xfrm>
          <a:prstGeom prst="rect">
            <a:avLst/>
          </a:prstGeom>
          <a:noFill/>
        </p:spPr>
        <p:txBody>
          <a:bodyPr wrap="square" anchor="t"/>
          <a:lstStyle/>
          <a:p>
            <a:pPr algn="l"/>
            <a:r>
              <a:rPr sz="1300" b="0" i="0">
                <a:solidFill>
                  <a:srgbClr val="CBD5E1"/>
                </a:solidFill>
                <a:latin typeface="Calibri"/>
              </a:rPr>
              <a:t>An AI-assisted cybersecurity organization that helps a Security Operations Center detect, investigate, and defend.</a:t>
            </a:r>
          </a:p>
        </p:txBody>
      </p:sp>
      <p:sp>
        <p:nvSpPr>
          <p:cNvPr id="15" name="Rounded Rectangle 14"/>
          <p:cNvSpPr/>
          <p:nvPr/>
        </p:nvSpPr>
        <p:spPr>
          <a:xfrm>
            <a:off x="4297680" y="2743200"/>
            <a:ext cx="3611880" cy="288036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743200"/>
            <a:ext cx="64008" cy="28803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98848" y="2889504"/>
            <a:ext cx="3291840" cy="219456"/>
          </a:xfrm>
          <a:prstGeom prst="rect">
            <a:avLst/>
          </a:prstGeom>
          <a:noFill/>
        </p:spPr>
        <p:txBody>
          <a:bodyPr wrap="square" anchor="t"/>
          <a:lstStyle/>
          <a:p>
            <a:pPr algn="l"/>
            <a:r>
              <a:rPr sz="1100" b="1" i="0">
                <a:solidFill>
                  <a:srgbClr val="22D3EE"/>
                </a:solidFill>
                <a:latin typeface="Calibri"/>
              </a:rPr>
              <a:t>02</a:t>
            </a:r>
          </a:p>
        </p:txBody>
      </p:sp>
      <p:sp>
        <p:nvSpPr>
          <p:cNvPr id="18" name="TextBox 17"/>
          <p:cNvSpPr txBox="1"/>
          <p:nvPr/>
        </p:nvSpPr>
        <p:spPr>
          <a:xfrm>
            <a:off x="4498848" y="3127248"/>
            <a:ext cx="3291840" cy="329184"/>
          </a:xfrm>
          <a:prstGeom prst="rect">
            <a:avLst/>
          </a:prstGeom>
          <a:noFill/>
        </p:spPr>
        <p:txBody>
          <a:bodyPr wrap="square" anchor="t"/>
          <a:lstStyle/>
          <a:p>
            <a:pPr algn="l"/>
            <a:r>
              <a:rPr sz="1600" b="1" i="0">
                <a:solidFill>
                  <a:srgbClr val="F5F7FA"/>
                </a:solidFill>
                <a:latin typeface="Calibri"/>
              </a:rPr>
              <a:t>How it thinks</a:t>
            </a:r>
          </a:p>
        </p:txBody>
      </p:sp>
      <p:sp>
        <p:nvSpPr>
          <p:cNvPr id="19" name="TextBox 18"/>
          <p:cNvSpPr txBox="1"/>
          <p:nvPr/>
        </p:nvSpPr>
        <p:spPr>
          <a:xfrm>
            <a:off x="4498848" y="3456432"/>
            <a:ext cx="3291840" cy="2057400"/>
          </a:xfrm>
          <a:prstGeom prst="rect">
            <a:avLst/>
          </a:prstGeom>
          <a:noFill/>
        </p:spPr>
        <p:txBody>
          <a:bodyPr wrap="square" anchor="t"/>
          <a:lstStyle/>
          <a:p>
            <a:pPr algn="l"/>
            <a:r>
              <a:rPr sz="1300" b="0" i="0">
                <a:solidFill>
                  <a:srgbClr val="CBD5E1"/>
                </a:solidFill>
                <a:latin typeface="Calibri"/>
              </a:rPr>
              <a:t>Not one isolated detector. A coordinated team of specialized AI modules that share intelligence.</a:t>
            </a:r>
          </a:p>
        </p:txBody>
      </p:sp>
      <p:sp>
        <p:nvSpPr>
          <p:cNvPr id="20" name="Rounded Rectangle 19"/>
          <p:cNvSpPr/>
          <p:nvPr/>
        </p:nvSpPr>
        <p:spPr>
          <a:xfrm>
            <a:off x="8138160" y="2743200"/>
            <a:ext cx="3611880" cy="288036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8160" y="2743200"/>
            <a:ext cx="64008" cy="28803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8" y="2889504"/>
            <a:ext cx="3291840" cy="219456"/>
          </a:xfrm>
          <a:prstGeom prst="rect">
            <a:avLst/>
          </a:prstGeom>
          <a:noFill/>
        </p:spPr>
        <p:txBody>
          <a:bodyPr wrap="square" anchor="t"/>
          <a:lstStyle/>
          <a:p>
            <a:pPr algn="l"/>
            <a:r>
              <a:rPr sz="1100" b="1" i="0">
                <a:solidFill>
                  <a:srgbClr val="22D3EE"/>
                </a:solidFill>
                <a:latin typeface="Calibri"/>
              </a:rPr>
              <a:t>03</a:t>
            </a:r>
          </a:p>
        </p:txBody>
      </p:sp>
      <p:sp>
        <p:nvSpPr>
          <p:cNvPr id="23" name="TextBox 22"/>
          <p:cNvSpPr txBox="1"/>
          <p:nvPr/>
        </p:nvSpPr>
        <p:spPr>
          <a:xfrm>
            <a:off x="8339328" y="3127248"/>
            <a:ext cx="3291840" cy="329184"/>
          </a:xfrm>
          <a:prstGeom prst="rect">
            <a:avLst/>
          </a:prstGeom>
          <a:noFill/>
        </p:spPr>
        <p:txBody>
          <a:bodyPr wrap="square" anchor="t"/>
          <a:lstStyle/>
          <a:p>
            <a:pPr algn="l"/>
            <a:r>
              <a:rPr sz="1600" b="1" i="0">
                <a:solidFill>
                  <a:srgbClr val="F5F7FA"/>
                </a:solidFill>
                <a:latin typeface="Calibri"/>
              </a:rPr>
              <a:t>Who decides</a:t>
            </a:r>
          </a:p>
        </p:txBody>
      </p:sp>
      <p:sp>
        <p:nvSpPr>
          <p:cNvPr id="24" name="TextBox 23"/>
          <p:cNvSpPr txBox="1"/>
          <p:nvPr/>
        </p:nvSpPr>
        <p:spPr>
          <a:xfrm>
            <a:off x="8339328" y="3456432"/>
            <a:ext cx="3291840" cy="2057400"/>
          </a:xfrm>
          <a:prstGeom prst="rect">
            <a:avLst/>
          </a:prstGeom>
          <a:noFill/>
        </p:spPr>
        <p:txBody>
          <a:bodyPr wrap="square" anchor="t"/>
          <a:lstStyle/>
          <a:p>
            <a:pPr algn="l"/>
            <a:r>
              <a:rPr sz="1300" b="0" i="0">
                <a:solidFill>
                  <a:srgbClr val="CBD5E1"/>
                </a:solidFill>
                <a:latin typeface="Calibri"/>
              </a:rPr>
              <a:t>Vrindha can analyze and recommend. High-impact actions stay under human authorization.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510528"/>
            <a:ext cx="7315200" cy="256032"/>
          </a:xfrm>
          <a:prstGeom prst="rect">
            <a:avLst/>
          </a:prstGeom>
          <a:noFill/>
        </p:spPr>
        <p:txBody>
          <a:bodyPr wrap="square" anchor="t"/>
          <a:lstStyle/>
          <a:p>
            <a:pPr algn="l"/>
            <a:r>
              <a:rPr sz="1100" b="0" i="0">
                <a:solidFill>
                  <a:srgbClr val="9AABC4"/>
                </a:solidFill>
                <a:latin typeface="Calibri"/>
              </a:rPr>
              <a:t>VRINDHA AI  ·  Intelligent Cybersecurity &amp; SOC System</a:t>
            </a:r>
          </a:p>
        </p:txBody>
      </p:sp>
      <p:sp>
        <p:nvSpPr>
          <p:cNvPr id="5" name="TextBox 4"/>
          <p:cNvSpPr txBox="1"/>
          <p:nvPr/>
        </p:nvSpPr>
        <p:spPr>
          <a:xfrm>
            <a:off x="10607040" y="6510528"/>
            <a:ext cx="1280160" cy="256032"/>
          </a:xfrm>
          <a:prstGeom prst="rect">
            <a:avLst/>
          </a:prstGeom>
          <a:noFill/>
        </p:spPr>
        <p:txBody>
          <a:bodyPr wrap="square" anchor="t"/>
          <a:lstStyle/>
          <a:p>
            <a:pPr algn="r"/>
            <a:r>
              <a:rPr sz="1100" b="0" i="0">
                <a:solidFill>
                  <a:srgbClr val="9AABC4"/>
                </a:solidFill>
                <a:latin typeface="Calibri"/>
              </a:rPr>
              <a:t>03  /  16</a:t>
            </a:r>
          </a:p>
        </p:txBody>
      </p:sp>
      <p:sp>
        <p:nvSpPr>
          <p:cNvPr id="6" name="TextBox 5"/>
          <p:cNvSpPr txBox="1"/>
          <p:nvPr/>
        </p:nvSpPr>
        <p:spPr>
          <a:xfrm>
            <a:off x="457200" y="256032"/>
            <a:ext cx="10972800" cy="256032"/>
          </a:xfrm>
          <a:prstGeom prst="rect">
            <a:avLst/>
          </a:prstGeom>
          <a:noFill/>
        </p:spPr>
        <p:txBody>
          <a:bodyPr wrap="square" anchor="t"/>
          <a:lstStyle/>
          <a:p>
            <a:pPr algn="l"/>
            <a:r>
              <a:rPr sz="1200" b="1" i="0">
                <a:solidFill>
                  <a:srgbClr val="22D3EE"/>
                </a:solidFill>
                <a:latin typeface="Calibri"/>
              </a:rPr>
              <a:t>02  ·  THE PROBLEM</a:t>
            </a:r>
          </a:p>
        </p:txBody>
      </p:sp>
      <p:sp>
        <p:nvSpPr>
          <p:cNvPr id="7" name="TextBox 6"/>
          <p:cNvSpPr txBox="1"/>
          <p:nvPr/>
        </p:nvSpPr>
        <p:spPr>
          <a:xfrm>
            <a:off x="457200" y="475488"/>
            <a:ext cx="11247120" cy="640080"/>
          </a:xfrm>
          <a:prstGeom prst="rect">
            <a:avLst/>
          </a:prstGeom>
          <a:noFill/>
        </p:spPr>
        <p:txBody>
          <a:bodyPr wrap="square" anchor="t"/>
          <a:lstStyle/>
          <a:p>
            <a:pPr algn="l"/>
            <a:r>
              <a:rPr sz="3000" b="1" i="0">
                <a:solidFill>
                  <a:srgbClr val="F5F7FA"/>
                </a:solidFill>
                <a:latin typeface="Calibri"/>
              </a:rPr>
              <a:t>Cybersecurity is no longer a single-alert problem</a:t>
            </a:r>
          </a:p>
        </p:txBody>
      </p:sp>
      <p:sp>
        <p:nvSpPr>
          <p:cNvPr id="8" name="Rectangle 7"/>
          <p:cNvSpPr/>
          <p:nvPr/>
        </p:nvSpPr>
        <p:spPr>
          <a:xfrm>
            <a:off x="457200" y="1097280"/>
            <a:ext cx="1280160" cy="4445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oc_problem.png"/>
          <p:cNvPicPr>
            <a:picLocks noChangeAspect="1"/>
          </p:cNvPicPr>
          <p:nvPr/>
        </p:nvPicPr>
        <p:blipFill>
          <a:blip r:embed="rId2"/>
          <a:stretch>
            <a:fillRect/>
          </a:stretch>
        </p:blipFill>
        <p:spPr>
          <a:xfrm>
            <a:off x="7452360" y="1417320"/>
            <a:ext cx="4297680" cy="4709160"/>
          </a:xfrm>
          <a:prstGeom prst="rect">
            <a:avLst/>
          </a:prstGeom>
        </p:spPr>
      </p:pic>
      <p:sp>
        <p:nvSpPr>
          <p:cNvPr id="10" name="Rounded Rectangle 9"/>
          <p:cNvSpPr/>
          <p:nvPr/>
        </p:nvSpPr>
        <p:spPr>
          <a:xfrm>
            <a:off x="457200" y="1417320"/>
            <a:ext cx="6720840" cy="1024128"/>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417320"/>
            <a:ext cx="73152" cy="102412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563624"/>
            <a:ext cx="6217920" cy="320040"/>
          </a:xfrm>
          <a:prstGeom prst="rect">
            <a:avLst/>
          </a:prstGeom>
          <a:noFill/>
        </p:spPr>
        <p:txBody>
          <a:bodyPr wrap="square" anchor="t"/>
          <a:lstStyle/>
          <a:p>
            <a:pPr algn="l"/>
            <a:r>
              <a:rPr sz="1600" b="1" i="0">
                <a:solidFill>
                  <a:srgbClr val="F5F7FA"/>
                </a:solidFill>
                <a:latin typeface="Calibri"/>
              </a:rPr>
              <a:t>Alert volume is exploding</a:t>
            </a:r>
          </a:p>
        </p:txBody>
      </p:sp>
      <p:sp>
        <p:nvSpPr>
          <p:cNvPr id="13" name="TextBox 12"/>
          <p:cNvSpPr txBox="1"/>
          <p:nvPr/>
        </p:nvSpPr>
        <p:spPr>
          <a:xfrm>
            <a:off x="731520" y="1892808"/>
            <a:ext cx="6217920" cy="411480"/>
          </a:xfrm>
          <a:prstGeom prst="rect">
            <a:avLst/>
          </a:prstGeom>
          <a:noFill/>
        </p:spPr>
        <p:txBody>
          <a:bodyPr wrap="square" anchor="t"/>
          <a:lstStyle/>
          <a:p>
            <a:pPr algn="l"/>
            <a:r>
              <a:rPr sz="1400" b="0" i="0">
                <a:solidFill>
                  <a:srgbClr val="CBD5E1"/>
                </a:solidFill>
                <a:latin typeface="Calibri"/>
              </a:rPr>
              <a:t>Teams face more events than humans can review in time.</a:t>
            </a:r>
          </a:p>
        </p:txBody>
      </p:sp>
      <p:sp>
        <p:nvSpPr>
          <p:cNvPr id="14" name="Rounded Rectangle 13"/>
          <p:cNvSpPr/>
          <p:nvPr/>
        </p:nvSpPr>
        <p:spPr>
          <a:xfrm>
            <a:off x="457200" y="2560320"/>
            <a:ext cx="6720840" cy="1024128"/>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560320"/>
            <a:ext cx="73152" cy="1024128"/>
          </a:xfrm>
          <a:prstGeom prst="rect">
            <a:avLst/>
          </a:prstGeom>
          <a:solidFill>
            <a:srgbClr val="E8C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06624"/>
            <a:ext cx="6217920" cy="320040"/>
          </a:xfrm>
          <a:prstGeom prst="rect">
            <a:avLst/>
          </a:prstGeom>
          <a:noFill/>
        </p:spPr>
        <p:txBody>
          <a:bodyPr wrap="square" anchor="t"/>
          <a:lstStyle/>
          <a:p>
            <a:pPr algn="l"/>
            <a:r>
              <a:rPr sz="1600" b="1" i="0">
                <a:solidFill>
                  <a:srgbClr val="F5F7FA"/>
                </a:solidFill>
                <a:latin typeface="Calibri"/>
              </a:rPr>
              <a:t>Threats move across systems</a:t>
            </a:r>
          </a:p>
        </p:txBody>
      </p:sp>
      <p:sp>
        <p:nvSpPr>
          <p:cNvPr id="17" name="TextBox 16"/>
          <p:cNvSpPr txBox="1"/>
          <p:nvPr/>
        </p:nvSpPr>
        <p:spPr>
          <a:xfrm>
            <a:off x="731520" y="3035808"/>
            <a:ext cx="6217920" cy="411480"/>
          </a:xfrm>
          <a:prstGeom prst="rect">
            <a:avLst/>
          </a:prstGeom>
          <a:noFill/>
        </p:spPr>
        <p:txBody>
          <a:bodyPr wrap="square" anchor="t"/>
          <a:lstStyle/>
          <a:p>
            <a:pPr algn="l"/>
            <a:r>
              <a:rPr sz="1400" b="0" i="0">
                <a:solidFill>
                  <a:srgbClr val="CBD5E1"/>
                </a:solidFill>
                <a:latin typeface="Calibri"/>
              </a:rPr>
              <a:t>An IP, a login, a file, and a network spike may be one attack.</a:t>
            </a:r>
          </a:p>
        </p:txBody>
      </p:sp>
      <p:sp>
        <p:nvSpPr>
          <p:cNvPr id="18" name="Rounded Rectangle 17"/>
          <p:cNvSpPr/>
          <p:nvPr/>
        </p:nvSpPr>
        <p:spPr>
          <a:xfrm>
            <a:off x="457200" y="3703320"/>
            <a:ext cx="6720840" cy="1024128"/>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703320"/>
            <a:ext cx="73152" cy="102412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849624"/>
            <a:ext cx="6217920" cy="320040"/>
          </a:xfrm>
          <a:prstGeom prst="rect">
            <a:avLst/>
          </a:prstGeom>
          <a:noFill/>
        </p:spPr>
        <p:txBody>
          <a:bodyPr wrap="square" anchor="t"/>
          <a:lstStyle/>
          <a:p>
            <a:pPr algn="l"/>
            <a:r>
              <a:rPr sz="1600" b="1" i="0">
                <a:solidFill>
                  <a:srgbClr val="F5F7FA"/>
                </a:solidFill>
                <a:latin typeface="Calibri"/>
              </a:rPr>
              <a:t>Intelligence arrives too late</a:t>
            </a:r>
          </a:p>
        </p:txBody>
      </p:sp>
      <p:sp>
        <p:nvSpPr>
          <p:cNvPr id="21" name="TextBox 20"/>
          <p:cNvSpPr txBox="1"/>
          <p:nvPr/>
        </p:nvSpPr>
        <p:spPr>
          <a:xfrm>
            <a:off x="731520" y="4178808"/>
            <a:ext cx="6217920" cy="411480"/>
          </a:xfrm>
          <a:prstGeom prst="rect">
            <a:avLst/>
          </a:prstGeom>
          <a:noFill/>
        </p:spPr>
        <p:txBody>
          <a:bodyPr wrap="square" anchor="t"/>
          <a:lstStyle/>
          <a:p>
            <a:pPr algn="l"/>
            <a:r>
              <a:rPr sz="1400" b="0" i="0">
                <a:solidFill>
                  <a:srgbClr val="CBD5E1"/>
                </a:solidFill>
                <a:latin typeface="Calibri"/>
              </a:rPr>
              <a:t>Known threat data often sits outside the SOC workflow.</a:t>
            </a:r>
          </a:p>
        </p:txBody>
      </p:sp>
      <p:sp>
        <p:nvSpPr>
          <p:cNvPr id="22" name="Rounded Rectangle 21"/>
          <p:cNvSpPr/>
          <p:nvPr/>
        </p:nvSpPr>
        <p:spPr>
          <a:xfrm>
            <a:off x="457200" y="4846320"/>
            <a:ext cx="6720840" cy="1024128"/>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4846320"/>
            <a:ext cx="73152" cy="1024128"/>
          </a:xfrm>
          <a:prstGeom prst="rect">
            <a:avLst/>
          </a:prstGeom>
          <a:solidFill>
            <a:srgbClr val="E8C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4992624"/>
            <a:ext cx="6217920" cy="320040"/>
          </a:xfrm>
          <a:prstGeom prst="rect">
            <a:avLst/>
          </a:prstGeom>
          <a:noFill/>
        </p:spPr>
        <p:txBody>
          <a:bodyPr wrap="square" anchor="t"/>
          <a:lstStyle/>
          <a:p>
            <a:pPr algn="l"/>
            <a:r>
              <a:rPr sz="1600" b="1" i="0">
                <a:solidFill>
                  <a:srgbClr val="F5F7FA"/>
                </a:solidFill>
                <a:latin typeface="Calibri"/>
              </a:rPr>
              <a:t>Tools do not talk to each other</a:t>
            </a:r>
          </a:p>
        </p:txBody>
      </p:sp>
      <p:sp>
        <p:nvSpPr>
          <p:cNvPr id="25" name="TextBox 24"/>
          <p:cNvSpPr txBox="1"/>
          <p:nvPr/>
        </p:nvSpPr>
        <p:spPr>
          <a:xfrm>
            <a:off x="731520" y="5321808"/>
            <a:ext cx="6217920" cy="411480"/>
          </a:xfrm>
          <a:prstGeom prst="rect">
            <a:avLst/>
          </a:prstGeom>
          <a:noFill/>
        </p:spPr>
        <p:txBody>
          <a:bodyPr wrap="square" anchor="t"/>
          <a:lstStyle/>
          <a:p>
            <a:pPr algn="l"/>
            <a:r>
              <a:rPr sz="1400" b="0" i="0">
                <a:solidFill>
                  <a:srgbClr val="CBD5E1"/>
                </a:solidFill>
                <a:latin typeface="Calibri"/>
              </a:rPr>
              <a:t>SIEM, TI feeds, and response playbooks stay isolated.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510528"/>
            <a:ext cx="7315200" cy="256032"/>
          </a:xfrm>
          <a:prstGeom prst="rect">
            <a:avLst/>
          </a:prstGeom>
          <a:noFill/>
        </p:spPr>
        <p:txBody>
          <a:bodyPr wrap="square" anchor="t"/>
          <a:lstStyle/>
          <a:p>
            <a:pPr algn="l"/>
            <a:r>
              <a:rPr sz="1100" b="0" i="0">
                <a:solidFill>
                  <a:srgbClr val="9AABC4"/>
                </a:solidFill>
                <a:latin typeface="Calibri"/>
              </a:rPr>
              <a:t>VRINDHA AI  ·  Intelligent Cybersecurity &amp; SOC System</a:t>
            </a:r>
          </a:p>
        </p:txBody>
      </p:sp>
      <p:sp>
        <p:nvSpPr>
          <p:cNvPr id="5" name="TextBox 4"/>
          <p:cNvSpPr txBox="1"/>
          <p:nvPr/>
        </p:nvSpPr>
        <p:spPr>
          <a:xfrm>
            <a:off x="10607040" y="6510528"/>
            <a:ext cx="1280160" cy="256032"/>
          </a:xfrm>
          <a:prstGeom prst="rect">
            <a:avLst/>
          </a:prstGeom>
          <a:noFill/>
        </p:spPr>
        <p:txBody>
          <a:bodyPr wrap="square" anchor="t"/>
          <a:lstStyle/>
          <a:p>
            <a:pPr algn="r"/>
            <a:r>
              <a:rPr sz="1100" b="0" i="0">
                <a:solidFill>
                  <a:srgbClr val="9AABC4"/>
                </a:solidFill>
                <a:latin typeface="Calibri"/>
              </a:rPr>
              <a:t>04  /  16</a:t>
            </a:r>
          </a:p>
        </p:txBody>
      </p:sp>
      <p:sp>
        <p:nvSpPr>
          <p:cNvPr id="6" name="TextBox 5"/>
          <p:cNvSpPr txBox="1"/>
          <p:nvPr/>
        </p:nvSpPr>
        <p:spPr>
          <a:xfrm>
            <a:off x="457200" y="256032"/>
            <a:ext cx="10972800" cy="256032"/>
          </a:xfrm>
          <a:prstGeom prst="rect">
            <a:avLst/>
          </a:prstGeom>
          <a:noFill/>
        </p:spPr>
        <p:txBody>
          <a:bodyPr wrap="square" anchor="t"/>
          <a:lstStyle/>
          <a:p>
            <a:pPr algn="l"/>
            <a:r>
              <a:rPr sz="1200" b="1" i="0">
                <a:solidFill>
                  <a:srgbClr val="22D3EE"/>
                </a:solidFill>
                <a:latin typeface="Calibri"/>
              </a:rPr>
              <a:t>03  ·  WHY SCALE BREAKS TRADITIONAL SOCS</a:t>
            </a:r>
          </a:p>
        </p:txBody>
      </p:sp>
      <p:sp>
        <p:nvSpPr>
          <p:cNvPr id="7" name="TextBox 6"/>
          <p:cNvSpPr txBox="1"/>
          <p:nvPr/>
        </p:nvSpPr>
        <p:spPr>
          <a:xfrm>
            <a:off x="457200" y="475488"/>
            <a:ext cx="11247120" cy="640080"/>
          </a:xfrm>
          <a:prstGeom prst="rect">
            <a:avLst/>
          </a:prstGeom>
          <a:noFill/>
        </p:spPr>
        <p:txBody>
          <a:bodyPr wrap="square" anchor="t"/>
          <a:lstStyle/>
          <a:p>
            <a:pPr algn="l"/>
            <a:r>
              <a:rPr sz="3000" b="1" i="0">
                <a:solidFill>
                  <a:srgbClr val="F5F7FA"/>
                </a:solidFill>
                <a:latin typeface="Calibri"/>
              </a:rPr>
              <a:t>Traditional SOC operations struggle at scale</a:t>
            </a:r>
          </a:p>
        </p:txBody>
      </p:sp>
      <p:sp>
        <p:nvSpPr>
          <p:cNvPr id="8" name="Rectangle 7"/>
          <p:cNvSpPr/>
          <p:nvPr/>
        </p:nvSpPr>
        <p:spPr>
          <a:xfrm>
            <a:off x="457200" y="1097280"/>
            <a:ext cx="1280160" cy="4445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25880"/>
            <a:ext cx="11155680" cy="411480"/>
          </a:xfrm>
          <a:prstGeom prst="rect">
            <a:avLst/>
          </a:prstGeom>
          <a:noFill/>
        </p:spPr>
        <p:txBody>
          <a:bodyPr wrap="square" anchor="t"/>
          <a:lstStyle/>
          <a:p>
            <a:pPr algn="l"/>
            <a:r>
              <a:rPr sz="1600" b="0" i="0">
                <a:solidFill>
                  <a:srgbClr val="CBD5E1"/>
                </a:solidFill>
                <a:latin typeface="Calibri"/>
              </a:rPr>
              <a:t>A SOC is the security control room. At scale, the room fills faster than people can decide.</a:t>
            </a:r>
          </a:p>
        </p:txBody>
      </p:sp>
      <p:sp>
        <p:nvSpPr>
          <p:cNvPr id="10" name="Rounded Rectangle 9"/>
          <p:cNvSpPr/>
          <p:nvPr/>
        </p:nvSpPr>
        <p:spPr>
          <a:xfrm>
            <a:off x="457200" y="1965960"/>
            <a:ext cx="3657600" cy="192024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965960"/>
            <a:ext cx="64008" cy="192024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112264"/>
            <a:ext cx="3337560" cy="219456"/>
          </a:xfrm>
          <a:prstGeom prst="rect">
            <a:avLst/>
          </a:prstGeom>
          <a:noFill/>
        </p:spPr>
        <p:txBody>
          <a:bodyPr wrap="square" anchor="t"/>
          <a:lstStyle/>
          <a:p>
            <a:pPr algn="l"/>
            <a:r>
              <a:rPr sz="1100" b="1" i="0">
                <a:solidFill>
                  <a:srgbClr val="22D3EE"/>
                </a:solidFill>
                <a:latin typeface="Calibri"/>
              </a:rPr>
              <a:t>01</a:t>
            </a:r>
          </a:p>
        </p:txBody>
      </p:sp>
      <p:sp>
        <p:nvSpPr>
          <p:cNvPr id="13" name="TextBox 12"/>
          <p:cNvSpPr txBox="1"/>
          <p:nvPr/>
        </p:nvSpPr>
        <p:spPr>
          <a:xfrm>
            <a:off x="658368" y="2350008"/>
            <a:ext cx="3337560" cy="329184"/>
          </a:xfrm>
          <a:prstGeom prst="rect">
            <a:avLst/>
          </a:prstGeom>
          <a:noFill/>
        </p:spPr>
        <p:txBody>
          <a:bodyPr wrap="square" anchor="t"/>
          <a:lstStyle/>
          <a:p>
            <a:pPr algn="l"/>
            <a:r>
              <a:rPr sz="1600" b="1" i="0">
                <a:solidFill>
                  <a:srgbClr val="F5F7FA"/>
                </a:solidFill>
                <a:latin typeface="Calibri"/>
              </a:rPr>
              <a:t>Too many alerts</a:t>
            </a:r>
          </a:p>
        </p:txBody>
      </p:sp>
      <p:sp>
        <p:nvSpPr>
          <p:cNvPr id="14" name="TextBox 13"/>
          <p:cNvSpPr txBox="1"/>
          <p:nvPr/>
        </p:nvSpPr>
        <p:spPr>
          <a:xfrm>
            <a:off x="658368" y="2679192"/>
            <a:ext cx="3337560" cy="1097280"/>
          </a:xfrm>
          <a:prstGeom prst="rect">
            <a:avLst/>
          </a:prstGeom>
          <a:noFill/>
        </p:spPr>
        <p:txBody>
          <a:bodyPr wrap="square" anchor="t"/>
          <a:lstStyle/>
          <a:p>
            <a:pPr algn="l"/>
            <a:r>
              <a:rPr sz="1300" b="0" i="0">
                <a:solidFill>
                  <a:srgbClr val="CBD5E1"/>
                </a:solidFill>
                <a:latin typeface="Calibri"/>
              </a:rPr>
              <a:t>Analysts spend hours triaging noise instead of investigating real incidents.</a:t>
            </a:r>
          </a:p>
        </p:txBody>
      </p:sp>
      <p:sp>
        <p:nvSpPr>
          <p:cNvPr id="15" name="Rounded Rectangle 14"/>
          <p:cNvSpPr/>
          <p:nvPr/>
        </p:nvSpPr>
        <p:spPr>
          <a:xfrm>
            <a:off x="4297680" y="1965960"/>
            <a:ext cx="3657600" cy="192024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1965960"/>
            <a:ext cx="64008" cy="192024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98848" y="2112264"/>
            <a:ext cx="3337560" cy="219456"/>
          </a:xfrm>
          <a:prstGeom prst="rect">
            <a:avLst/>
          </a:prstGeom>
          <a:noFill/>
        </p:spPr>
        <p:txBody>
          <a:bodyPr wrap="square" anchor="t"/>
          <a:lstStyle/>
          <a:p>
            <a:pPr algn="l"/>
            <a:r>
              <a:rPr sz="1100" b="1" i="0">
                <a:solidFill>
                  <a:srgbClr val="22D3EE"/>
                </a:solidFill>
                <a:latin typeface="Calibri"/>
              </a:rPr>
              <a:t>02</a:t>
            </a:r>
          </a:p>
        </p:txBody>
      </p:sp>
      <p:sp>
        <p:nvSpPr>
          <p:cNvPr id="18" name="TextBox 17"/>
          <p:cNvSpPr txBox="1"/>
          <p:nvPr/>
        </p:nvSpPr>
        <p:spPr>
          <a:xfrm>
            <a:off x="4498848" y="2350008"/>
            <a:ext cx="3337560" cy="329184"/>
          </a:xfrm>
          <a:prstGeom prst="rect">
            <a:avLst/>
          </a:prstGeom>
          <a:noFill/>
        </p:spPr>
        <p:txBody>
          <a:bodyPr wrap="square" anchor="t"/>
          <a:lstStyle/>
          <a:p>
            <a:pPr algn="l"/>
            <a:r>
              <a:rPr sz="1600" b="1" i="0">
                <a:solidFill>
                  <a:srgbClr val="F5F7FA"/>
                </a:solidFill>
                <a:latin typeface="Calibri"/>
              </a:rPr>
              <a:t>Slow correlation</a:t>
            </a:r>
          </a:p>
        </p:txBody>
      </p:sp>
      <p:sp>
        <p:nvSpPr>
          <p:cNvPr id="19" name="TextBox 18"/>
          <p:cNvSpPr txBox="1"/>
          <p:nvPr/>
        </p:nvSpPr>
        <p:spPr>
          <a:xfrm>
            <a:off x="4498848" y="2679192"/>
            <a:ext cx="3337560" cy="1097280"/>
          </a:xfrm>
          <a:prstGeom prst="rect">
            <a:avLst/>
          </a:prstGeom>
          <a:noFill/>
        </p:spPr>
        <p:txBody>
          <a:bodyPr wrap="square" anchor="t"/>
          <a:lstStyle/>
          <a:p>
            <a:pPr algn="l"/>
            <a:r>
              <a:rPr sz="1300" b="0" i="0">
                <a:solidFill>
                  <a:srgbClr val="CBD5E1"/>
                </a:solidFill>
                <a:latin typeface="Calibri"/>
              </a:rPr>
              <a:t>Connecting an alert to a known threat still depends on manual lookup.</a:t>
            </a:r>
          </a:p>
        </p:txBody>
      </p:sp>
      <p:sp>
        <p:nvSpPr>
          <p:cNvPr id="20" name="Rounded Rectangle 19"/>
          <p:cNvSpPr/>
          <p:nvPr/>
        </p:nvSpPr>
        <p:spPr>
          <a:xfrm>
            <a:off x="8138160" y="1965960"/>
            <a:ext cx="3657600" cy="192024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8160" y="1965960"/>
            <a:ext cx="64008" cy="192024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8" y="2112264"/>
            <a:ext cx="3337560" cy="219456"/>
          </a:xfrm>
          <a:prstGeom prst="rect">
            <a:avLst/>
          </a:prstGeom>
          <a:noFill/>
        </p:spPr>
        <p:txBody>
          <a:bodyPr wrap="square" anchor="t"/>
          <a:lstStyle/>
          <a:p>
            <a:pPr algn="l"/>
            <a:r>
              <a:rPr sz="1100" b="1" i="0">
                <a:solidFill>
                  <a:srgbClr val="22D3EE"/>
                </a:solidFill>
                <a:latin typeface="Calibri"/>
              </a:rPr>
              <a:t>03</a:t>
            </a:r>
          </a:p>
        </p:txBody>
      </p:sp>
      <p:sp>
        <p:nvSpPr>
          <p:cNvPr id="23" name="TextBox 22"/>
          <p:cNvSpPr txBox="1"/>
          <p:nvPr/>
        </p:nvSpPr>
        <p:spPr>
          <a:xfrm>
            <a:off x="8339328" y="2350008"/>
            <a:ext cx="3337560" cy="329184"/>
          </a:xfrm>
          <a:prstGeom prst="rect">
            <a:avLst/>
          </a:prstGeom>
          <a:noFill/>
        </p:spPr>
        <p:txBody>
          <a:bodyPr wrap="square" anchor="t"/>
          <a:lstStyle/>
          <a:p>
            <a:pPr algn="l"/>
            <a:r>
              <a:rPr sz="1600" b="1" i="0">
                <a:solidFill>
                  <a:srgbClr val="F5F7FA"/>
                </a:solidFill>
                <a:latin typeface="Calibri"/>
              </a:rPr>
              <a:t>Isolated tools</a:t>
            </a:r>
          </a:p>
        </p:txBody>
      </p:sp>
      <p:sp>
        <p:nvSpPr>
          <p:cNvPr id="24" name="TextBox 23"/>
          <p:cNvSpPr txBox="1"/>
          <p:nvPr/>
        </p:nvSpPr>
        <p:spPr>
          <a:xfrm>
            <a:off x="8339328" y="2679192"/>
            <a:ext cx="3337560" cy="1097280"/>
          </a:xfrm>
          <a:prstGeom prst="rect">
            <a:avLst/>
          </a:prstGeom>
          <a:noFill/>
        </p:spPr>
        <p:txBody>
          <a:bodyPr wrap="square" anchor="t"/>
          <a:lstStyle/>
          <a:p>
            <a:pPr algn="l"/>
            <a:r>
              <a:rPr sz="1300" b="0" i="0">
                <a:solidFill>
                  <a:srgbClr val="CBD5E1"/>
                </a:solidFill>
                <a:latin typeface="Calibri"/>
              </a:rPr>
              <a:t>SIEM, threat feeds, and response systems do not share a common intelligence layer.</a:t>
            </a:r>
          </a:p>
        </p:txBody>
      </p:sp>
      <p:sp>
        <p:nvSpPr>
          <p:cNvPr id="25" name="Rounded Rectangle 24"/>
          <p:cNvSpPr/>
          <p:nvPr/>
        </p:nvSpPr>
        <p:spPr>
          <a:xfrm>
            <a:off x="457200" y="4069079"/>
            <a:ext cx="3657600" cy="192024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069079"/>
            <a:ext cx="64008" cy="192024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4215383"/>
            <a:ext cx="3337560" cy="219456"/>
          </a:xfrm>
          <a:prstGeom prst="rect">
            <a:avLst/>
          </a:prstGeom>
          <a:noFill/>
        </p:spPr>
        <p:txBody>
          <a:bodyPr wrap="square" anchor="t"/>
          <a:lstStyle/>
          <a:p>
            <a:pPr algn="l"/>
            <a:r>
              <a:rPr sz="1100" b="1" i="0">
                <a:solidFill>
                  <a:srgbClr val="22D3EE"/>
                </a:solidFill>
                <a:latin typeface="Calibri"/>
              </a:rPr>
              <a:t>04</a:t>
            </a:r>
          </a:p>
        </p:txBody>
      </p:sp>
      <p:sp>
        <p:nvSpPr>
          <p:cNvPr id="28" name="TextBox 27"/>
          <p:cNvSpPr txBox="1"/>
          <p:nvPr/>
        </p:nvSpPr>
        <p:spPr>
          <a:xfrm>
            <a:off x="658368" y="4453127"/>
            <a:ext cx="3337560" cy="329184"/>
          </a:xfrm>
          <a:prstGeom prst="rect">
            <a:avLst/>
          </a:prstGeom>
          <a:noFill/>
        </p:spPr>
        <p:txBody>
          <a:bodyPr wrap="square" anchor="t"/>
          <a:lstStyle/>
          <a:p>
            <a:pPr algn="l"/>
            <a:r>
              <a:rPr sz="1600" b="1" i="0">
                <a:solidFill>
                  <a:srgbClr val="F5F7FA"/>
                </a:solidFill>
                <a:latin typeface="Calibri"/>
              </a:rPr>
              <a:t>Knowledge walks away</a:t>
            </a:r>
          </a:p>
        </p:txBody>
      </p:sp>
      <p:sp>
        <p:nvSpPr>
          <p:cNvPr id="29" name="TextBox 28"/>
          <p:cNvSpPr txBox="1"/>
          <p:nvPr/>
        </p:nvSpPr>
        <p:spPr>
          <a:xfrm>
            <a:off x="658368" y="4782311"/>
            <a:ext cx="3337560" cy="1097280"/>
          </a:xfrm>
          <a:prstGeom prst="rect">
            <a:avLst/>
          </a:prstGeom>
          <a:noFill/>
        </p:spPr>
        <p:txBody>
          <a:bodyPr wrap="square" anchor="t"/>
          <a:lstStyle/>
          <a:p>
            <a:pPr algn="l"/>
            <a:r>
              <a:rPr sz="1300" b="0" i="0">
                <a:solidFill>
                  <a:srgbClr val="CBD5E1"/>
                </a:solidFill>
                <a:latin typeface="Calibri"/>
              </a:rPr>
              <a:t>Lessons from past incidents stay in tickets, chats, or one analyst’s memory.</a:t>
            </a:r>
          </a:p>
        </p:txBody>
      </p:sp>
      <p:sp>
        <p:nvSpPr>
          <p:cNvPr id="30" name="Rounded Rectangle 29"/>
          <p:cNvSpPr/>
          <p:nvPr/>
        </p:nvSpPr>
        <p:spPr>
          <a:xfrm>
            <a:off x="4297680" y="4069079"/>
            <a:ext cx="3657600" cy="192024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97680" y="4069079"/>
            <a:ext cx="64008" cy="192024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98848" y="4215383"/>
            <a:ext cx="3337560" cy="219456"/>
          </a:xfrm>
          <a:prstGeom prst="rect">
            <a:avLst/>
          </a:prstGeom>
          <a:noFill/>
        </p:spPr>
        <p:txBody>
          <a:bodyPr wrap="square" anchor="t"/>
          <a:lstStyle/>
          <a:p>
            <a:pPr algn="l"/>
            <a:r>
              <a:rPr sz="1100" b="1" i="0">
                <a:solidFill>
                  <a:srgbClr val="22D3EE"/>
                </a:solidFill>
                <a:latin typeface="Calibri"/>
              </a:rPr>
              <a:t>05</a:t>
            </a:r>
          </a:p>
        </p:txBody>
      </p:sp>
      <p:sp>
        <p:nvSpPr>
          <p:cNvPr id="33" name="TextBox 32"/>
          <p:cNvSpPr txBox="1"/>
          <p:nvPr/>
        </p:nvSpPr>
        <p:spPr>
          <a:xfrm>
            <a:off x="4498848" y="4453127"/>
            <a:ext cx="3337560" cy="329184"/>
          </a:xfrm>
          <a:prstGeom prst="rect">
            <a:avLst/>
          </a:prstGeom>
          <a:noFill/>
        </p:spPr>
        <p:txBody>
          <a:bodyPr wrap="square" anchor="t"/>
          <a:lstStyle/>
          <a:p>
            <a:pPr algn="l"/>
            <a:r>
              <a:rPr sz="1600" b="1" i="0">
                <a:solidFill>
                  <a:srgbClr val="F5F7FA"/>
                </a:solidFill>
                <a:latin typeface="Calibri"/>
              </a:rPr>
              <a:t>Fatigue and delay</a:t>
            </a:r>
          </a:p>
        </p:txBody>
      </p:sp>
      <p:sp>
        <p:nvSpPr>
          <p:cNvPr id="34" name="TextBox 33"/>
          <p:cNvSpPr txBox="1"/>
          <p:nvPr/>
        </p:nvSpPr>
        <p:spPr>
          <a:xfrm>
            <a:off x="4498848" y="4782311"/>
            <a:ext cx="3337560" cy="1097280"/>
          </a:xfrm>
          <a:prstGeom prst="rect">
            <a:avLst/>
          </a:prstGeom>
          <a:noFill/>
        </p:spPr>
        <p:txBody>
          <a:bodyPr wrap="square" anchor="t"/>
          <a:lstStyle/>
          <a:p>
            <a:pPr algn="l"/>
            <a:r>
              <a:rPr sz="1300" b="0" i="0">
                <a:solidFill>
                  <a:srgbClr val="CBD5E1"/>
                </a:solidFill>
                <a:latin typeface="Calibri"/>
              </a:rPr>
              <a:t>The more the environment grows, the longer it takes to understand what matters.</a:t>
            </a:r>
          </a:p>
        </p:txBody>
      </p:sp>
      <p:sp>
        <p:nvSpPr>
          <p:cNvPr id="35" name="Rounded Rectangle 34"/>
          <p:cNvSpPr/>
          <p:nvPr/>
        </p:nvSpPr>
        <p:spPr>
          <a:xfrm>
            <a:off x="8138160" y="4069079"/>
            <a:ext cx="3657600" cy="192024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38160" y="4069079"/>
            <a:ext cx="64008" cy="192024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39328" y="4215383"/>
            <a:ext cx="3337560" cy="219456"/>
          </a:xfrm>
          <a:prstGeom prst="rect">
            <a:avLst/>
          </a:prstGeom>
          <a:noFill/>
        </p:spPr>
        <p:txBody>
          <a:bodyPr wrap="square" anchor="t"/>
          <a:lstStyle/>
          <a:p>
            <a:pPr algn="l"/>
            <a:r>
              <a:rPr sz="1100" b="1" i="0">
                <a:solidFill>
                  <a:srgbClr val="22D3EE"/>
                </a:solidFill>
                <a:latin typeface="Calibri"/>
              </a:rPr>
              <a:t>06</a:t>
            </a:r>
          </a:p>
        </p:txBody>
      </p:sp>
      <p:sp>
        <p:nvSpPr>
          <p:cNvPr id="38" name="TextBox 37"/>
          <p:cNvSpPr txBox="1"/>
          <p:nvPr/>
        </p:nvSpPr>
        <p:spPr>
          <a:xfrm>
            <a:off x="8339328" y="4453127"/>
            <a:ext cx="3337560" cy="329184"/>
          </a:xfrm>
          <a:prstGeom prst="rect">
            <a:avLst/>
          </a:prstGeom>
          <a:noFill/>
        </p:spPr>
        <p:txBody>
          <a:bodyPr wrap="square" anchor="t"/>
          <a:lstStyle/>
          <a:p>
            <a:pPr algn="l"/>
            <a:r>
              <a:rPr sz="1600" b="1" i="0">
                <a:solidFill>
                  <a:srgbClr val="F5F7FA"/>
                </a:solidFill>
                <a:latin typeface="Calibri"/>
              </a:rPr>
              <a:t>Weak feedback loop</a:t>
            </a:r>
          </a:p>
        </p:txBody>
      </p:sp>
      <p:sp>
        <p:nvSpPr>
          <p:cNvPr id="39" name="TextBox 38"/>
          <p:cNvSpPr txBox="1"/>
          <p:nvPr/>
        </p:nvSpPr>
        <p:spPr>
          <a:xfrm>
            <a:off x="8339328" y="4782311"/>
            <a:ext cx="3337560" cy="1097280"/>
          </a:xfrm>
          <a:prstGeom prst="rect">
            <a:avLst/>
          </a:prstGeom>
          <a:noFill/>
        </p:spPr>
        <p:txBody>
          <a:bodyPr wrap="square" anchor="t"/>
          <a:lstStyle/>
          <a:p>
            <a:pPr algn="l"/>
            <a:r>
              <a:rPr sz="1300" b="0" i="0">
                <a:solidFill>
                  <a:srgbClr val="CBD5E1"/>
                </a:solidFill>
                <a:latin typeface="Calibri"/>
              </a:rPr>
              <a:t>Yesterday’s incident rarely improves tomorrow’s detection automatically.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510528"/>
            <a:ext cx="7315200" cy="256032"/>
          </a:xfrm>
          <a:prstGeom prst="rect">
            <a:avLst/>
          </a:prstGeom>
          <a:noFill/>
        </p:spPr>
        <p:txBody>
          <a:bodyPr wrap="square" anchor="t"/>
          <a:lstStyle/>
          <a:p>
            <a:pPr algn="l"/>
            <a:r>
              <a:rPr sz="1100" b="0" i="0">
                <a:solidFill>
                  <a:srgbClr val="9AABC4"/>
                </a:solidFill>
                <a:latin typeface="Calibri"/>
              </a:rPr>
              <a:t>VRINDHA AI  ·  Intelligent Cybersecurity &amp; SOC System</a:t>
            </a:r>
          </a:p>
        </p:txBody>
      </p:sp>
      <p:sp>
        <p:nvSpPr>
          <p:cNvPr id="5" name="TextBox 4"/>
          <p:cNvSpPr txBox="1"/>
          <p:nvPr/>
        </p:nvSpPr>
        <p:spPr>
          <a:xfrm>
            <a:off x="10607040" y="6510528"/>
            <a:ext cx="1280160" cy="256032"/>
          </a:xfrm>
          <a:prstGeom prst="rect">
            <a:avLst/>
          </a:prstGeom>
          <a:noFill/>
        </p:spPr>
        <p:txBody>
          <a:bodyPr wrap="square" anchor="t"/>
          <a:lstStyle/>
          <a:p>
            <a:pPr algn="r"/>
            <a:r>
              <a:rPr sz="1100" b="0" i="0">
                <a:solidFill>
                  <a:srgbClr val="9AABC4"/>
                </a:solidFill>
                <a:latin typeface="Calibri"/>
              </a:rPr>
              <a:t>05  /  16</a:t>
            </a:r>
          </a:p>
        </p:txBody>
      </p:sp>
      <p:sp>
        <p:nvSpPr>
          <p:cNvPr id="6" name="TextBox 5"/>
          <p:cNvSpPr txBox="1"/>
          <p:nvPr/>
        </p:nvSpPr>
        <p:spPr>
          <a:xfrm>
            <a:off x="457200" y="256032"/>
            <a:ext cx="10972800" cy="256032"/>
          </a:xfrm>
          <a:prstGeom prst="rect">
            <a:avLst/>
          </a:prstGeom>
          <a:noFill/>
        </p:spPr>
        <p:txBody>
          <a:bodyPr wrap="square" anchor="t"/>
          <a:lstStyle/>
          <a:p>
            <a:pPr algn="l"/>
            <a:r>
              <a:rPr sz="1200" b="1" i="0">
                <a:solidFill>
                  <a:srgbClr val="22D3EE"/>
                </a:solidFill>
                <a:latin typeface="Calibri"/>
              </a:rPr>
              <a:t>04  ·  THE PROJECT</a:t>
            </a:r>
          </a:p>
        </p:txBody>
      </p:sp>
      <p:sp>
        <p:nvSpPr>
          <p:cNvPr id="7" name="TextBox 6"/>
          <p:cNvSpPr txBox="1"/>
          <p:nvPr/>
        </p:nvSpPr>
        <p:spPr>
          <a:xfrm>
            <a:off x="457200" y="475488"/>
            <a:ext cx="11247120" cy="640080"/>
          </a:xfrm>
          <a:prstGeom prst="rect">
            <a:avLst/>
          </a:prstGeom>
          <a:noFill/>
        </p:spPr>
        <p:txBody>
          <a:bodyPr wrap="square" anchor="t"/>
          <a:lstStyle/>
          <a:p>
            <a:pPr algn="l"/>
            <a:r>
              <a:rPr sz="3000" b="1" i="0">
                <a:solidFill>
                  <a:srgbClr val="F5F7FA"/>
                </a:solidFill>
                <a:latin typeface="Calibri"/>
              </a:rPr>
              <a:t>Introducing Vrindha AI</a:t>
            </a:r>
          </a:p>
        </p:txBody>
      </p:sp>
      <p:sp>
        <p:nvSpPr>
          <p:cNvPr id="8" name="Rectangle 7"/>
          <p:cNvSpPr/>
          <p:nvPr/>
        </p:nvSpPr>
        <p:spPr>
          <a:xfrm>
            <a:off x="457200" y="1097280"/>
            <a:ext cx="1280160" cy="4445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71600"/>
            <a:ext cx="11155680" cy="777240"/>
          </a:xfrm>
          <a:prstGeom prst="rect">
            <a:avLst/>
          </a:prstGeom>
          <a:noFill/>
        </p:spPr>
        <p:txBody>
          <a:bodyPr wrap="square" anchor="t"/>
          <a:lstStyle/>
          <a:p>
            <a:pPr algn="l"/>
            <a:r>
              <a:rPr sz="1800" b="0" i="0">
                <a:solidFill>
                  <a:srgbClr val="F5F7FA"/>
                </a:solidFill>
                <a:latin typeface="Calibri"/>
              </a:rPr>
              <a:t>Vrindha is a defensive cybersecurity platform that helps a SOC investigate, correlate, and respond — with specialized AI roles working as one organization.</a:t>
            </a:r>
          </a:p>
        </p:txBody>
      </p:sp>
      <p:sp>
        <p:nvSpPr>
          <p:cNvPr id="10" name="Rounded Rectangle 9"/>
          <p:cNvSpPr/>
          <p:nvPr/>
        </p:nvSpPr>
        <p:spPr>
          <a:xfrm>
            <a:off x="457200" y="2377440"/>
            <a:ext cx="2743200" cy="23317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578608"/>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081222"/>
                </a:solidFill>
                <a:latin typeface="Calibri"/>
              </a:rPr>
              <a:t>1</a:t>
            </a:r>
          </a:p>
        </p:txBody>
      </p:sp>
      <p:sp>
        <p:nvSpPr>
          <p:cNvPr id="12" name="TextBox 11"/>
          <p:cNvSpPr txBox="1"/>
          <p:nvPr/>
        </p:nvSpPr>
        <p:spPr>
          <a:xfrm>
            <a:off x="1143000" y="2615184"/>
            <a:ext cx="1874519" cy="347472"/>
          </a:xfrm>
          <a:prstGeom prst="rect">
            <a:avLst/>
          </a:prstGeom>
          <a:noFill/>
        </p:spPr>
        <p:txBody>
          <a:bodyPr wrap="square" anchor="t"/>
          <a:lstStyle/>
          <a:p>
            <a:pPr algn="l"/>
            <a:r>
              <a:rPr sz="1800" b="1" i="0">
                <a:solidFill>
                  <a:srgbClr val="F5F7FA"/>
                </a:solidFill>
                <a:latin typeface="Calibri"/>
              </a:rPr>
              <a:t>Detect</a:t>
            </a:r>
          </a:p>
        </p:txBody>
      </p:sp>
      <p:sp>
        <p:nvSpPr>
          <p:cNvPr id="13" name="TextBox 12"/>
          <p:cNvSpPr txBox="1"/>
          <p:nvPr/>
        </p:nvSpPr>
        <p:spPr>
          <a:xfrm>
            <a:off x="640080" y="3154680"/>
            <a:ext cx="2377440" cy="1325880"/>
          </a:xfrm>
          <a:prstGeom prst="rect">
            <a:avLst/>
          </a:prstGeom>
          <a:noFill/>
        </p:spPr>
        <p:txBody>
          <a:bodyPr wrap="square" anchor="t"/>
          <a:lstStyle/>
          <a:p>
            <a:pPr algn="l"/>
            <a:r>
              <a:rPr sz="1400" b="0" i="0">
                <a:solidFill>
                  <a:srgbClr val="CBD5E1"/>
                </a:solidFill>
                <a:latin typeface="Calibri"/>
              </a:rPr>
              <a:t>Watch telemetry, logs, and infrastructure for suspicious activity.</a:t>
            </a:r>
          </a:p>
        </p:txBody>
      </p:sp>
      <p:sp>
        <p:nvSpPr>
          <p:cNvPr id="14" name="Rounded Rectangle 13"/>
          <p:cNvSpPr/>
          <p:nvPr/>
        </p:nvSpPr>
        <p:spPr>
          <a:xfrm>
            <a:off x="3337560" y="2377440"/>
            <a:ext cx="2743200" cy="23317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8728" y="2578608"/>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081222"/>
                </a:solidFill>
                <a:latin typeface="Calibri"/>
              </a:rPr>
              <a:t>2</a:t>
            </a:r>
          </a:p>
        </p:txBody>
      </p:sp>
      <p:sp>
        <p:nvSpPr>
          <p:cNvPr id="16" name="TextBox 15"/>
          <p:cNvSpPr txBox="1"/>
          <p:nvPr/>
        </p:nvSpPr>
        <p:spPr>
          <a:xfrm>
            <a:off x="4023360" y="2615184"/>
            <a:ext cx="1874519" cy="347472"/>
          </a:xfrm>
          <a:prstGeom prst="rect">
            <a:avLst/>
          </a:prstGeom>
          <a:noFill/>
        </p:spPr>
        <p:txBody>
          <a:bodyPr wrap="square" anchor="t"/>
          <a:lstStyle/>
          <a:p>
            <a:pPr algn="l"/>
            <a:r>
              <a:rPr sz="1800" b="1" i="0">
                <a:solidFill>
                  <a:srgbClr val="F5F7FA"/>
                </a:solidFill>
                <a:latin typeface="Calibri"/>
              </a:rPr>
              <a:t>Understand</a:t>
            </a:r>
          </a:p>
        </p:txBody>
      </p:sp>
      <p:sp>
        <p:nvSpPr>
          <p:cNvPr id="17" name="TextBox 16"/>
          <p:cNvSpPr txBox="1"/>
          <p:nvPr/>
        </p:nvSpPr>
        <p:spPr>
          <a:xfrm>
            <a:off x="3520439" y="3154680"/>
            <a:ext cx="2377440" cy="1325880"/>
          </a:xfrm>
          <a:prstGeom prst="rect">
            <a:avLst/>
          </a:prstGeom>
          <a:noFill/>
        </p:spPr>
        <p:txBody>
          <a:bodyPr wrap="square" anchor="t"/>
          <a:lstStyle/>
          <a:p>
            <a:pPr algn="l"/>
            <a:r>
              <a:rPr sz="1400" b="0" i="0">
                <a:solidFill>
                  <a:srgbClr val="CBD5E1"/>
                </a:solidFill>
                <a:latin typeface="Calibri"/>
              </a:rPr>
              <a:t>Check whether an indicator is known and what it means.</a:t>
            </a:r>
          </a:p>
        </p:txBody>
      </p:sp>
      <p:sp>
        <p:nvSpPr>
          <p:cNvPr id="18" name="Rounded Rectangle 17"/>
          <p:cNvSpPr/>
          <p:nvPr/>
        </p:nvSpPr>
        <p:spPr>
          <a:xfrm>
            <a:off x="6217920" y="2377440"/>
            <a:ext cx="2743200" cy="23317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19088" y="2578608"/>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081222"/>
                </a:solidFill>
                <a:latin typeface="Calibri"/>
              </a:rPr>
              <a:t>3</a:t>
            </a:r>
          </a:p>
        </p:txBody>
      </p:sp>
      <p:sp>
        <p:nvSpPr>
          <p:cNvPr id="20" name="TextBox 19"/>
          <p:cNvSpPr txBox="1"/>
          <p:nvPr/>
        </p:nvSpPr>
        <p:spPr>
          <a:xfrm>
            <a:off x="6903720" y="2615184"/>
            <a:ext cx="1874519" cy="347472"/>
          </a:xfrm>
          <a:prstGeom prst="rect">
            <a:avLst/>
          </a:prstGeom>
          <a:noFill/>
        </p:spPr>
        <p:txBody>
          <a:bodyPr wrap="square" anchor="t"/>
          <a:lstStyle/>
          <a:p>
            <a:pPr algn="l"/>
            <a:r>
              <a:rPr sz="1800" b="1" i="0">
                <a:solidFill>
                  <a:srgbClr val="F5F7FA"/>
                </a:solidFill>
                <a:latin typeface="Calibri"/>
              </a:rPr>
              <a:t>Coordinate</a:t>
            </a:r>
          </a:p>
        </p:txBody>
      </p:sp>
      <p:sp>
        <p:nvSpPr>
          <p:cNvPr id="21" name="TextBox 20"/>
          <p:cNvSpPr txBox="1"/>
          <p:nvPr/>
        </p:nvSpPr>
        <p:spPr>
          <a:xfrm>
            <a:off x="6400800" y="3154680"/>
            <a:ext cx="2377440" cy="1325880"/>
          </a:xfrm>
          <a:prstGeom prst="rect">
            <a:avLst/>
          </a:prstGeom>
          <a:noFill/>
        </p:spPr>
        <p:txBody>
          <a:bodyPr wrap="square" anchor="t"/>
          <a:lstStyle/>
          <a:p>
            <a:pPr algn="l"/>
            <a:r>
              <a:rPr sz="1400" b="0" i="0">
                <a:solidFill>
                  <a:srgbClr val="CBD5E1"/>
                </a:solidFill>
                <a:latin typeface="Calibri"/>
              </a:rPr>
              <a:t>Share context across SOC, threat intelligence, and risk.</a:t>
            </a:r>
          </a:p>
        </p:txBody>
      </p:sp>
      <p:sp>
        <p:nvSpPr>
          <p:cNvPr id="22" name="Rounded Rectangle 21"/>
          <p:cNvSpPr/>
          <p:nvPr/>
        </p:nvSpPr>
        <p:spPr>
          <a:xfrm>
            <a:off x="9098280" y="2377440"/>
            <a:ext cx="2743200" cy="23317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299448" y="2578608"/>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081222"/>
                </a:solidFill>
                <a:latin typeface="Calibri"/>
              </a:rPr>
              <a:t>4</a:t>
            </a:r>
          </a:p>
        </p:txBody>
      </p:sp>
      <p:sp>
        <p:nvSpPr>
          <p:cNvPr id="24" name="TextBox 23"/>
          <p:cNvSpPr txBox="1"/>
          <p:nvPr/>
        </p:nvSpPr>
        <p:spPr>
          <a:xfrm>
            <a:off x="9784080" y="2615184"/>
            <a:ext cx="1874519" cy="347472"/>
          </a:xfrm>
          <a:prstGeom prst="rect">
            <a:avLst/>
          </a:prstGeom>
          <a:noFill/>
        </p:spPr>
        <p:txBody>
          <a:bodyPr wrap="square" anchor="t"/>
          <a:lstStyle/>
          <a:p>
            <a:pPr algn="l"/>
            <a:r>
              <a:rPr sz="1800" b="1" i="0">
                <a:solidFill>
                  <a:srgbClr val="F5F7FA"/>
                </a:solidFill>
                <a:latin typeface="Calibri"/>
              </a:rPr>
              <a:t>Recommend</a:t>
            </a:r>
          </a:p>
        </p:txBody>
      </p:sp>
      <p:sp>
        <p:nvSpPr>
          <p:cNvPr id="25" name="TextBox 24"/>
          <p:cNvSpPr txBox="1"/>
          <p:nvPr/>
        </p:nvSpPr>
        <p:spPr>
          <a:xfrm>
            <a:off x="9281159" y="3154680"/>
            <a:ext cx="2377440" cy="1325880"/>
          </a:xfrm>
          <a:prstGeom prst="rect">
            <a:avLst/>
          </a:prstGeom>
          <a:noFill/>
        </p:spPr>
        <p:txBody>
          <a:bodyPr wrap="square" anchor="t"/>
          <a:lstStyle/>
          <a:p>
            <a:pPr algn="l"/>
            <a:r>
              <a:rPr sz="1400" b="0" i="0">
                <a:solidFill>
                  <a:srgbClr val="CBD5E1"/>
                </a:solidFill>
                <a:latin typeface="Calibri"/>
              </a:rPr>
              <a:t>Prepare a defensive response for a human to approve.</a:t>
            </a:r>
          </a:p>
        </p:txBody>
      </p:sp>
      <p:sp>
        <p:nvSpPr>
          <p:cNvPr id="26" name="TextBox 25"/>
          <p:cNvSpPr txBox="1"/>
          <p:nvPr/>
        </p:nvSpPr>
        <p:spPr>
          <a:xfrm>
            <a:off x="457200" y="4983480"/>
            <a:ext cx="11155680" cy="1097280"/>
          </a:xfrm>
          <a:prstGeom prst="rect">
            <a:avLst/>
          </a:prstGeom>
          <a:noFill/>
        </p:spPr>
        <p:txBody>
          <a:bodyPr wrap="square" anchor="t"/>
          <a:lstStyle/>
          <a:p>
            <a:pPr algn="l"/>
            <a:r>
              <a:rPr sz="1800" b="0" i="1">
                <a:solidFill>
                  <a:srgbClr val="E8C36A"/>
                </a:solidFill>
                <a:latin typeface="Calibri"/>
              </a:rPr>
              <a:t>The key innovation of our project is not “AI detects attacks.”
It is the coordination of multiple specialized AI capabilities — with accountability.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510528"/>
            <a:ext cx="7315200" cy="256032"/>
          </a:xfrm>
          <a:prstGeom prst="rect">
            <a:avLst/>
          </a:prstGeom>
          <a:noFill/>
        </p:spPr>
        <p:txBody>
          <a:bodyPr wrap="square" anchor="t"/>
          <a:lstStyle/>
          <a:p>
            <a:pPr algn="l"/>
            <a:r>
              <a:rPr sz="1100" b="0" i="0">
                <a:solidFill>
                  <a:srgbClr val="9AABC4"/>
                </a:solidFill>
                <a:latin typeface="Calibri"/>
              </a:rPr>
              <a:t>VRINDHA AI  ·  Intelligent Cybersecurity &amp; SOC System</a:t>
            </a:r>
          </a:p>
        </p:txBody>
      </p:sp>
      <p:sp>
        <p:nvSpPr>
          <p:cNvPr id="5" name="TextBox 4"/>
          <p:cNvSpPr txBox="1"/>
          <p:nvPr/>
        </p:nvSpPr>
        <p:spPr>
          <a:xfrm>
            <a:off x="10607040" y="6510528"/>
            <a:ext cx="1280160" cy="256032"/>
          </a:xfrm>
          <a:prstGeom prst="rect">
            <a:avLst/>
          </a:prstGeom>
          <a:noFill/>
        </p:spPr>
        <p:txBody>
          <a:bodyPr wrap="square" anchor="t"/>
          <a:lstStyle/>
          <a:p>
            <a:pPr algn="r"/>
            <a:r>
              <a:rPr sz="1100" b="0" i="0">
                <a:solidFill>
                  <a:srgbClr val="9AABC4"/>
                </a:solidFill>
                <a:latin typeface="Calibri"/>
              </a:rPr>
              <a:t>06  /  16</a:t>
            </a:r>
          </a:p>
        </p:txBody>
      </p:sp>
      <p:sp>
        <p:nvSpPr>
          <p:cNvPr id="6" name="TextBox 5"/>
          <p:cNvSpPr txBox="1"/>
          <p:nvPr/>
        </p:nvSpPr>
        <p:spPr>
          <a:xfrm>
            <a:off x="457200" y="256032"/>
            <a:ext cx="10972800" cy="256032"/>
          </a:xfrm>
          <a:prstGeom prst="rect">
            <a:avLst/>
          </a:prstGeom>
          <a:noFill/>
        </p:spPr>
        <p:txBody>
          <a:bodyPr wrap="square" anchor="t"/>
          <a:lstStyle/>
          <a:p>
            <a:pPr algn="l"/>
            <a:r>
              <a:rPr sz="1200" b="1" i="0">
                <a:solidFill>
                  <a:srgbClr val="22D3EE"/>
                </a:solidFill>
                <a:latin typeface="Calibri"/>
              </a:rPr>
              <a:t>05  ·  OPERATING MODEL</a:t>
            </a:r>
          </a:p>
        </p:txBody>
      </p:sp>
      <p:sp>
        <p:nvSpPr>
          <p:cNvPr id="7" name="TextBox 6"/>
          <p:cNvSpPr txBox="1"/>
          <p:nvPr/>
        </p:nvSpPr>
        <p:spPr>
          <a:xfrm>
            <a:off x="457200" y="475488"/>
            <a:ext cx="11247120" cy="640080"/>
          </a:xfrm>
          <a:prstGeom prst="rect">
            <a:avLst/>
          </a:prstGeom>
          <a:noFill/>
        </p:spPr>
        <p:txBody>
          <a:bodyPr wrap="square" anchor="t"/>
          <a:lstStyle/>
          <a:p>
            <a:pPr algn="l"/>
            <a:r>
              <a:rPr sz="3000" b="1" i="0">
                <a:solidFill>
                  <a:srgbClr val="F5F7FA"/>
                </a:solidFill>
                <a:latin typeface="Calibri"/>
              </a:rPr>
              <a:t>How Vrindha works</a:t>
            </a:r>
          </a:p>
        </p:txBody>
      </p:sp>
      <p:sp>
        <p:nvSpPr>
          <p:cNvPr id="8" name="Rectangle 7"/>
          <p:cNvSpPr/>
          <p:nvPr/>
        </p:nvSpPr>
        <p:spPr>
          <a:xfrm>
            <a:off x="457200" y="1097280"/>
            <a:ext cx="1280160" cy="4445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25880"/>
            <a:ext cx="11155680" cy="365760"/>
          </a:xfrm>
          <a:prstGeom prst="rect">
            <a:avLst/>
          </a:prstGeom>
          <a:noFill/>
        </p:spPr>
        <p:txBody>
          <a:bodyPr wrap="square" anchor="t"/>
          <a:lstStyle/>
          <a:p>
            <a:pPr algn="l"/>
            <a:r>
              <a:rPr sz="1600" b="0" i="0">
                <a:solidFill>
                  <a:srgbClr val="CBD5E1"/>
                </a:solidFill>
                <a:latin typeface="Calibri"/>
              </a:rPr>
              <a:t>A simple loop. Every step feeds the next.</a:t>
            </a:r>
          </a:p>
        </p:txBody>
      </p:sp>
      <p:sp>
        <p:nvSpPr>
          <p:cNvPr id="10" name="Rounded Rectangle 9"/>
          <p:cNvSpPr/>
          <p:nvPr/>
        </p:nvSpPr>
        <p:spPr>
          <a:xfrm>
            <a:off x="411480" y="1874519"/>
            <a:ext cx="2788920" cy="182880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76072" y="2075687"/>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081222"/>
                </a:solidFill>
                <a:latin typeface="Calibri"/>
              </a:rPr>
              <a:t>1</a:t>
            </a:r>
          </a:p>
        </p:txBody>
      </p:sp>
      <p:sp>
        <p:nvSpPr>
          <p:cNvPr id="12" name="TextBox 11"/>
          <p:cNvSpPr txBox="1"/>
          <p:nvPr/>
        </p:nvSpPr>
        <p:spPr>
          <a:xfrm>
            <a:off x="1069848" y="2112263"/>
            <a:ext cx="1965960" cy="347472"/>
          </a:xfrm>
          <a:prstGeom prst="rect">
            <a:avLst/>
          </a:prstGeom>
          <a:noFill/>
        </p:spPr>
        <p:txBody>
          <a:bodyPr wrap="square" anchor="t"/>
          <a:lstStyle/>
          <a:p>
            <a:pPr algn="l"/>
            <a:r>
              <a:rPr sz="1800" b="1" i="0">
                <a:solidFill>
                  <a:srgbClr val="F5F7FA"/>
                </a:solidFill>
                <a:latin typeface="Calibri"/>
              </a:rPr>
              <a:t>Detect</a:t>
            </a:r>
          </a:p>
        </p:txBody>
      </p:sp>
      <p:sp>
        <p:nvSpPr>
          <p:cNvPr id="13" name="TextBox 12"/>
          <p:cNvSpPr txBox="1"/>
          <p:nvPr/>
        </p:nvSpPr>
        <p:spPr>
          <a:xfrm>
            <a:off x="594360" y="2651759"/>
            <a:ext cx="2423160" cy="822960"/>
          </a:xfrm>
          <a:prstGeom prst="rect">
            <a:avLst/>
          </a:prstGeom>
          <a:noFill/>
        </p:spPr>
        <p:txBody>
          <a:bodyPr wrap="square" anchor="t"/>
          <a:lstStyle/>
          <a:p>
            <a:pPr algn="l"/>
            <a:r>
              <a:rPr sz="1400" b="0" i="0">
                <a:solidFill>
                  <a:srgbClr val="CBD5E1"/>
                </a:solidFill>
                <a:latin typeface="Calibri"/>
              </a:rPr>
              <a:t>SOC sees suspicious activity</a:t>
            </a:r>
          </a:p>
        </p:txBody>
      </p:sp>
      <p:sp>
        <p:nvSpPr>
          <p:cNvPr id="14" name="Rounded Rectangle 13"/>
          <p:cNvSpPr/>
          <p:nvPr/>
        </p:nvSpPr>
        <p:spPr>
          <a:xfrm>
            <a:off x="3337560" y="1874519"/>
            <a:ext cx="2788920" cy="182880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02152" y="2075687"/>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081222"/>
                </a:solidFill>
                <a:latin typeface="Calibri"/>
              </a:rPr>
              <a:t>2</a:t>
            </a:r>
          </a:p>
        </p:txBody>
      </p:sp>
      <p:sp>
        <p:nvSpPr>
          <p:cNvPr id="16" name="TextBox 15"/>
          <p:cNvSpPr txBox="1"/>
          <p:nvPr/>
        </p:nvSpPr>
        <p:spPr>
          <a:xfrm>
            <a:off x="3995928" y="2112263"/>
            <a:ext cx="1965960" cy="347472"/>
          </a:xfrm>
          <a:prstGeom prst="rect">
            <a:avLst/>
          </a:prstGeom>
          <a:noFill/>
        </p:spPr>
        <p:txBody>
          <a:bodyPr wrap="square" anchor="t"/>
          <a:lstStyle/>
          <a:p>
            <a:pPr algn="l"/>
            <a:r>
              <a:rPr sz="1800" b="1" i="0">
                <a:solidFill>
                  <a:srgbClr val="F5F7FA"/>
                </a:solidFill>
                <a:latin typeface="Calibri"/>
              </a:rPr>
              <a:t>Understand</a:t>
            </a:r>
          </a:p>
        </p:txBody>
      </p:sp>
      <p:sp>
        <p:nvSpPr>
          <p:cNvPr id="17" name="TextBox 16"/>
          <p:cNvSpPr txBox="1"/>
          <p:nvPr/>
        </p:nvSpPr>
        <p:spPr>
          <a:xfrm>
            <a:off x="3520440" y="2651759"/>
            <a:ext cx="2423160" cy="822960"/>
          </a:xfrm>
          <a:prstGeom prst="rect">
            <a:avLst/>
          </a:prstGeom>
          <a:noFill/>
        </p:spPr>
        <p:txBody>
          <a:bodyPr wrap="square" anchor="t"/>
          <a:lstStyle/>
          <a:p>
            <a:pPr algn="l"/>
            <a:r>
              <a:rPr sz="1400" b="0" i="0">
                <a:solidFill>
                  <a:srgbClr val="CBD5E1"/>
                </a:solidFill>
                <a:latin typeface="Calibri"/>
              </a:rPr>
              <a:t>Threat Intelligence checks the indicator</a:t>
            </a:r>
          </a:p>
        </p:txBody>
      </p:sp>
      <p:sp>
        <p:nvSpPr>
          <p:cNvPr id="18" name="Rounded Rectangle 17"/>
          <p:cNvSpPr/>
          <p:nvPr/>
        </p:nvSpPr>
        <p:spPr>
          <a:xfrm>
            <a:off x="6263640" y="1874519"/>
            <a:ext cx="2788920" cy="182880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28232" y="2075687"/>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081222"/>
                </a:solidFill>
                <a:latin typeface="Calibri"/>
              </a:rPr>
              <a:t>3</a:t>
            </a:r>
          </a:p>
        </p:txBody>
      </p:sp>
      <p:sp>
        <p:nvSpPr>
          <p:cNvPr id="20" name="TextBox 19"/>
          <p:cNvSpPr txBox="1"/>
          <p:nvPr/>
        </p:nvSpPr>
        <p:spPr>
          <a:xfrm>
            <a:off x="6922008" y="2112263"/>
            <a:ext cx="1965960" cy="347472"/>
          </a:xfrm>
          <a:prstGeom prst="rect">
            <a:avLst/>
          </a:prstGeom>
          <a:noFill/>
        </p:spPr>
        <p:txBody>
          <a:bodyPr wrap="square" anchor="t"/>
          <a:lstStyle/>
          <a:p>
            <a:pPr algn="l"/>
            <a:r>
              <a:rPr sz="1800" b="1" i="0">
                <a:solidFill>
                  <a:srgbClr val="F5F7FA"/>
                </a:solidFill>
                <a:latin typeface="Calibri"/>
              </a:rPr>
              <a:t>Correlate</a:t>
            </a:r>
          </a:p>
        </p:txBody>
      </p:sp>
      <p:sp>
        <p:nvSpPr>
          <p:cNvPr id="21" name="TextBox 20"/>
          <p:cNvSpPr txBox="1"/>
          <p:nvPr/>
        </p:nvSpPr>
        <p:spPr>
          <a:xfrm>
            <a:off x="6446520" y="2651759"/>
            <a:ext cx="2423160" cy="822960"/>
          </a:xfrm>
          <a:prstGeom prst="rect">
            <a:avLst/>
          </a:prstGeom>
          <a:noFill/>
        </p:spPr>
        <p:txBody>
          <a:bodyPr wrap="square" anchor="t"/>
          <a:lstStyle/>
          <a:p>
            <a:pPr algn="l"/>
            <a:r>
              <a:rPr sz="1400" b="0" i="0">
                <a:solidFill>
                  <a:srgbClr val="CBD5E1"/>
                </a:solidFill>
                <a:latin typeface="Calibri"/>
              </a:rPr>
              <a:t>Events from many systems are linked</a:t>
            </a:r>
          </a:p>
        </p:txBody>
      </p:sp>
      <p:sp>
        <p:nvSpPr>
          <p:cNvPr id="22" name="Rounded Rectangle 21"/>
          <p:cNvSpPr/>
          <p:nvPr/>
        </p:nvSpPr>
        <p:spPr>
          <a:xfrm>
            <a:off x="9189720" y="1874519"/>
            <a:ext cx="2788920" cy="182880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54312" y="2075687"/>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081222"/>
                </a:solidFill>
                <a:latin typeface="Calibri"/>
              </a:rPr>
              <a:t>4</a:t>
            </a:r>
          </a:p>
        </p:txBody>
      </p:sp>
      <p:sp>
        <p:nvSpPr>
          <p:cNvPr id="24" name="TextBox 23"/>
          <p:cNvSpPr txBox="1"/>
          <p:nvPr/>
        </p:nvSpPr>
        <p:spPr>
          <a:xfrm>
            <a:off x="9848088" y="2112263"/>
            <a:ext cx="1965960" cy="347472"/>
          </a:xfrm>
          <a:prstGeom prst="rect">
            <a:avLst/>
          </a:prstGeom>
          <a:noFill/>
        </p:spPr>
        <p:txBody>
          <a:bodyPr wrap="square" anchor="t"/>
          <a:lstStyle/>
          <a:p>
            <a:pPr algn="l"/>
            <a:r>
              <a:rPr sz="1800" b="1" i="0">
                <a:solidFill>
                  <a:srgbClr val="F5F7FA"/>
                </a:solidFill>
                <a:latin typeface="Calibri"/>
              </a:rPr>
              <a:t>Analyze</a:t>
            </a:r>
          </a:p>
        </p:txBody>
      </p:sp>
      <p:sp>
        <p:nvSpPr>
          <p:cNvPr id="25" name="TextBox 24"/>
          <p:cNvSpPr txBox="1"/>
          <p:nvPr/>
        </p:nvSpPr>
        <p:spPr>
          <a:xfrm>
            <a:off x="9372600" y="2651759"/>
            <a:ext cx="2423160" cy="822960"/>
          </a:xfrm>
          <a:prstGeom prst="rect">
            <a:avLst/>
          </a:prstGeom>
          <a:noFill/>
        </p:spPr>
        <p:txBody>
          <a:bodyPr wrap="square" anchor="t"/>
          <a:lstStyle/>
          <a:p>
            <a:pPr algn="l"/>
            <a:r>
              <a:rPr sz="1400" b="0" i="0">
                <a:solidFill>
                  <a:srgbClr val="CBD5E1"/>
                </a:solidFill>
                <a:latin typeface="Calibri"/>
              </a:rPr>
              <a:t>Risk engine scores severity</a:t>
            </a:r>
          </a:p>
        </p:txBody>
      </p:sp>
      <p:sp>
        <p:nvSpPr>
          <p:cNvPr id="26" name="Rounded Rectangle 25"/>
          <p:cNvSpPr/>
          <p:nvPr/>
        </p:nvSpPr>
        <p:spPr>
          <a:xfrm>
            <a:off x="411480" y="3931920"/>
            <a:ext cx="2788920" cy="182880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76072" y="4133088"/>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081222"/>
                </a:solidFill>
                <a:latin typeface="Calibri"/>
              </a:rPr>
              <a:t>5</a:t>
            </a:r>
          </a:p>
        </p:txBody>
      </p:sp>
      <p:sp>
        <p:nvSpPr>
          <p:cNvPr id="28" name="TextBox 27"/>
          <p:cNvSpPr txBox="1"/>
          <p:nvPr/>
        </p:nvSpPr>
        <p:spPr>
          <a:xfrm>
            <a:off x="1069848" y="4169664"/>
            <a:ext cx="1965960" cy="347472"/>
          </a:xfrm>
          <a:prstGeom prst="rect">
            <a:avLst/>
          </a:prstGeom>
          <a:noFill/>
        </p:spPr>
        <p:txBody>
          <a:bodyPr wrap="square" anchor="t"/>
          <a:lstStyle/>
          <a:p>
            <a:pPr algn="l"/>
            <a:r>
              <a:rPr sz="1800" b="1" i="0">
                <a:solidFill>
                  <a:srgbClr val="F5F7FA"/>
                </a:solidFill>
                <a:latin typeface="Calibri"/>
              </a:rPr>
              <a:t>Recommend</a:t>
            </a:r>
          </a:p>
        </p:txBody>
      </p:sp>
      <p:sp>
        <p:nvSpPr>
          <p:cNvPr id="29" name="TextBox 28"/>
          <p:cNvSpPr txBox="1"/>
          <p:nvPr/>
        </p:nvSpPr>
        <p:spPr>
          <a:xfrm>
            <a:off x="594360" y="4709160"/>
            <a:ext cx="2423160" cy="822960"/>
          </a:xfrm>
          <a:prstGeom prst="rect">
            <a:avLst/>
          </a:prstGeom>
          <a:noFill/>
        </p:spPr>
        <p:txBody>
          <a:bodyPr wrap="square" anchor="t"/>
          <a:lstStyle/>
          <a:p>
            <a:pPr algn="l"/>
            <a:r>
              <a:rPr sz="1400" b="0" i="0">
                <a:solidFill>
                  <a:srgbClr val="CBD5E1"/>
                </a:solidFill>
                <a:latin typeface="Calibri"/>
              </a:rPr>
              <a:t>SOC Analyst AI investigates</a:t>
            </a:r>
          </a:p>
        </p:txBody>
      </p:sp>
      <p:sp>
        <p:nvSpPr>
          <p:cNvPr id="30" name="Rounded Rectangle 29"/>
          <p:cNvSpPr/>
          <p:nvPr/>
        </p:nvSpPr>
        <p:spPr>
          <a:xfrm>
            <a:off x="3337560" y="3931920"/>
            <a:ext cx="2788920" cy="182880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502152" y="4133088"/>
            <a:ext cx="384048" cy="384048"/>
          </a:xfrm>
          <a:prstGeom prst="ellipse">
            <a:avLst/>
          </a:prstGeom>
          <a:solidFill>
            <a:srgbClr val="E8C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081222"/>
                </a:solidFill>
                <a:latin typeface="Calibri"/>
              </a:rPr>
              <a:t>6</a:t>
            </a:r>
          </a:p>
        </p:txBody>
      </p:sp>
      <p:sp>
        <p:nvSpPr>
          <p:cNvPr id="32" name="TextBox 31"/>
          <p:cNvSpPr txBox="1"/>
          <p:nvPr/>
        </p:nvSpPr>
        <p:spPr>
          <a:xfrm>
            <a:off x="3995928" y="4169664"/>
            <a:ext cx="1965960" cy="347472"/>
          </a:xfrm>
          <a:prstGeom prst="rect">
            <a:avLst/>
          </a:prstGeom>
          <a:noFill/>
        </p:spPr>
        <p:txBody>
          <a:bodyPr wrap="square" anchor="t"/>
          <a:lstStyle/>
          <a:p>
            <a:pPr algn="l"/>
            <a:r>
              <a:rPr sz="1800" b="1" i="0">
                <a:solidFill>
                  <a:srgbClr val="F5F7FA"/>
                </a:solidFill>
                <a:latin typeface="Calibri"/>
              </a:rPr>
              <a:t>Approve</a:t>
            </a:r>
          </a:p>
        </p:txBody>
      </p:sp>
      <p:sp>
        <p:nvSpPr>
          <p:cNvPr id="33" name="TextBox 32"/>
          <p:cNvSpPr txBox="1"/>
          <p:nvPr/>
        </p:nvSpPr>
        <p:spPr>
          <a:xfrm>
            <a:off x="3520440" y="4709160"/>
            <a:ext cx="2423160" cy="822960"/>
          </a:xfrm>
          <a:prstGeom prst="rect">
            <a:avLst/>
          </a:prstGeom>
          <a:noFill/>
        </p:spPr>
        <p:txBody>
          <a:bodyPr wrap="square" anchor="t"/>
          <a:lstStyle/>
          <a:p>
            <a:pPr algn="l"/>
            <a:r>
              <a:rPr sz="1400" b="0" i="0">
                <a:solidFill>
                  <a:srgbClr val="CBD5E1"/>
                </a:solidFill>
                <a:latin typeface="Calibri"/>
              </a:rPr>
              <a:t>Human authorizes high-impact action</a:t>
            </a:r>
          </a:p>
        </p:txBody>
      </p:sp>
      <p:sp>
        <p:nvSpPr>
          <p:cNvPr id="34" name="Rounded Rectangle 33"/>
          <p:cNvSpPr/>
          <p:nvPr/>
        </p:nvSpPr>
        <p:spPr>
          <a:xfrm>
            <a:off x="6263640" y="3931920"/>
            <a:ext cx="2788920" cy="182880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28232" y="4133088"/>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081222"/>
                </a:solidFill>
                <a:latin typeface="Calibri"/>
              </a:rPr>
              <a:t>7</a:t>
            </a:r>
          </a:p>
        </p:txBody>
      </p:sp>
      <p:sp>
        <p:nvSpPr>
          <p:cNvPr id="36" name="TextBox 35"/>
          <p:cNvSpPr txBox="1"/>
          <p:nvPr/>
        </p:nvSpPr>
        <p:spPr>
          <a:xfrm>
            <a:off x="6922008" y="4169664"/>
            <a:ext cx="1965960" cy="347472"/>
          </a:xfrm>
          <a:prstGeom prst="rect">
            <a:avLst/>
          </a:prstGeom>
          <a:noFill/>
        </p:spPr>
        <p:txBody>
          <a:bodyPr wrap="square" anchor="t"/>
          <a:lstStyle/>
          <a:p>
            <a:pPr algn="l"/>
            <a:r>
              <a:rPr sz="1800" b="1" i="0">
                <a:solidFill>
                  <a:srgbClr val="F5F7FA"/>
                </a:solidFill>
                <a:latin typeface="Calibri"/>
              </a:rPr>
              <a:t>Defend</a:t>
            </a:r>
          </a:p>
        </p:txBody>
      </p:sp>
      <p:sp>
        <p:nvSpPr>
          <p:cNvPr id="37" name="TextBox 36"/>
          <p:cNvSpPr txBox="1"/>
          <p:nvPr/>
        </p:nvSpPr>
        <p:spPr>
          <a:xfrm>
            <a:off x="6446520" y="4709160"/>
            <a:ext cx="2423160" cy="822960"/>
          </a:xfrm>
          <a:prstGeom prst="rect">
            <a:avLst/>
          </a:prstGeom>
          <a:noFill/>
        </p:spPr>
        <p:txBody>
          <a:bodyPr wrap="square" anchor="t"/>
          <a:lstStyle/>
          <a:p>
            <a:pPr algn="l"/>
            <a:r>
              <a:rPr sz="1400" b="0" i="0">
                <a:solidFill>
                  <a:srgbClr val="CBD5E1"/>
                </a:solidFill>
                <a:latin typeface="Calibri"/>
              </a:rPr>
              <a:t>Commander AI coordinates response</a:t>
            </a:r>
          </a:p>
        </p:txBody>
      </p:sp>
      <p:sp>
        <p:nvSpPr>
          <p:cNvPr id="38" name="Rounded Rectangle 37"/>
          <p:cNvSpPr/>
          <p:nvPr/>
        </p:nvSpPr>
        <p:spPr>
          <a:xfrm>
            <a:off x="9189720" y="3931920"/>
            <a:ext cx="2788920" cy="182880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354312" y="4133088"/>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081222"/>
                </a:solidFill>
                <a:latin typeface="Calibri"/>
              </a:rPr>
              <a:t>8</a:t>
            </a:r>
          </a:p>
        </p:txBody>
      </p:sp>
      <p:sp>
        <p:nvSpPr>
          <p:cNvPr id="40" name="TextBox 39"/>
          <p:cNvSpPr txBox="1"/>
          <p:nvPr/>
        </p:nvSpPr>
        <p:spPr>
          <a:xfrm>
            <a:off x="9848088" y="4169664"/>
            <a:ext cx="1965960" cy="347472"/>
          </a:xfrm>
          <a:prstGeom prst="rect">
            <a:avLst/>
          </a:prstGeom>
          <a:noFill/>
        </p:spPr>
        <p:txBody>
          <a:bodyPr wrap="square" anchor="t"/>
          <a:lstStyle/>
          <a:p>
            <a:pPr algn="l"/>
            <a:r>
              <a:rPr sz="1800" b="1" i="0">
                <a:solidFill>
                  <a:srgbClr val="F5F7FA"/>
                </a:solidFill>
                <a:latin typeface="Calibri"/>
              </a:rPr>
              <a:t>Learn</a:t>
            </a:r>
          </a:p>
        </p:txBody>
      </p:sp>
      <p:sp>
        <p:nvSpPr>
          <p:cNvPr id="41" name="TextBox 40"/>
          <p:cNvSpPr txBox="1"/>
          <p:nvPr/>
        </p:nvSpPr>
        <p:spPr>
          <a:xfrm>
            <a:off x="9372600" y="4709160"/>
            <a:ext cx="2423160" cy="822960"/>
          </a:xfrm>
          <a:prstGeom prst="rect">
            <a:avLst/>
          </a:prstGeom>
          <a:noFill/>
        </p:spPr>
        <p:txBody>
          <a:bodyPr wrap="square" anchor="t"/>
          <a:lstStyle/>
          <a:p>
            <a:pPr algn="l"/>
            <a:r>
              <a:rPr sz="1400" b="0" i="0">
                <a:solidFill>
                  <a:srgbClr val="CBD5E1"/>
                </a:solidFill>
                <a:latin typeface="Calibri"/>
              </a:rPr>
              <a:t>Knowledge AI stores lessons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510528"/>
            <a:ext cx="7315200" cy="256032"/>
          </a:xfrm>
          <a:prstGeom prst="rect">
            <a:avLst/>
          </a:prstGeom>
          <a:noFill/>
        </p:spPr>
        <p:txBody>
          <a:bodyPr wrap="square" anchor="t"/>
          <a:lstStyle/>
          <a:p>
            <a:pPr algn="l"/>
            <a:r>
              <a:rPr sz="1100" b="0" i="0">
                <a:solidFill>
                  <a:srgbClr val="9AABC4"/>
                </a:solidFill>
                <a:latin typeface="Calibri"/>
              </a:rPr>
              <a:t>VRINDHA AI  ·  Intelligent Cybersecurity &amp; SOC System</a:t>
            </a:r>
          </a:p>
        </p:txBody>
      </p:sp>
      <p:sp>
        <p:nvSpPr>
          <p:cNvPr id="5" name="TextBox 4"/>
          <p:cNvSpPr txBox="1"/>
          <p:nvPr/>
        </p:nvSpPr>
        <p:spPr>
          <a:xfrm>
            <a:off x="10607040" y="6510528"/>
            <a:ext cx="1280160" cy="256032"/>
          </a:xfrm>
          <a:prstGeom prst="rect">
            <a:avLst/>
          </a:prstGeom>
          <a:noFill/>
        </p:spPr>
        <p:txBody>
          <a:bodyPr wrap="square" anchor="t"/>
          <a:lstStyle/>
          <a:p>
            <a:pPr algn="r"/>
            <a:r>
              <a:rPr sz="1100" b="0" i="0">
                <a:solidFill>
                  <a:srgbClr val="9AABC4"/>
                </a:solidFill>
                <a:latin typeface="Calibri"/>
              </a:rPr>
              <a:t>07  /  16</a:t>
            </a:r>
          </a:p>
        </p:txBody>
      </p:sp>
      <p:sp>
        <p:nvSpPr>
          <p:cNvPr id="6" name="TextBox 5"/>
          <p:cNvSpPr txBox="1"/>
          <p:nvPr/>
        </p:nvSpPr>
        <p:spPr>
          <a:xfrm>
            <a:off x="457200" y="256032"/>
            <a:ext cx="10972800" cy="256032"/>
          </a:xfrm>
          <a:prstGeom prst="rect">
            <a:avLst/>
          </a:prstGeom>
          <a:noFill/>
        </p:spPr>
        <p:txBody>
          <a:bodyPr wrap="square" anchor="t"/>
          <a:lstStyle/>
          <a:p>
            <a:pPr algn="l"/>
            <a:r>
              <a:rPr sz="1200" b="1" i="0">
                <a:solidFill>
                  <a:srgbClr val="22D3EE"/>
                </a:solidFill>
                <a:latin typeface="Calibri"/>
              </a:rPr>
              <a:t>06  ·  INTEGRATION</a:t>
            </a:r>
          </a:p>
        </p:txBody>
      </p:sp>
      <p:sp>
        <p:nvSpPr>
          <p:cNvPr id="7" name="TextBox 6"/>
          <p:cNvSpPr txBox="1"/>
          <p:nvPr/>
        </p:nvSpPr>
        <p:spPr>
          <a:xfrm>
            <a:off x="457200" y="475488"/>
            <a:ext cx="11247120" cy="640080"/>
          </a:xfrm>
          <a:prstGeom prst="rect">
            <a:avLst/>
          </a:prstGeom>
          <a:noFill/>
        </p:spPr>
        <p:txBody>
          <a:bodyPr wrap="square" anchor="t"/>
          <a:lstStyle/>
          <a:p>
            <a:pPr algn="l"/>
            <a:r>
              <a:rPr sz="3000" b="1" i="0">
                <a:solidFill>
                  <a:srgbClr val="F5F7FA"/>
                </a:solidFill>
                <a:latin typeface="Calibri"/>
              </a:rPr>
              <a:t>SOC + Threat Intelligence, working as one</a:t>
            </a:r>
          </a:p>
        </p:txBody>
      </p:sp>
      <p:sp>
        <p:nvSpPr>
          <p:cNvPr id="8" name="Rectangle 7"/>
          <p:cNvSpPr/>
          <p:nvPr/>
        </p:nvSpPr>
        <p:spPr>
          <a:xfrm>
            <a:off x="457200" y="1097280"/>
            <a:ext cx="1280160" cy="4445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25880"/>
            <a:ext cx="11155680" cy="640080"/>
          </a:xfrm>
          <a:prstGeom prst="rect">
            <a:avLst/>
          </a:prstGeom>
          <a:noFill/>
        </p:spPr>
        <p:txBody>
          <a:bodyPr wrap="square" anchor="t"/>
          <a:lstStyle/>
          <a:p>
            <a:pPr algn="l"/>
            <a:r>
              <a:rPr sz="1600" b="0" i="0">
                <a:solidFill>
                  <a:srgbClr val="CBD5E1"/>
                </a:solidFill>
                <a:latin typeface="Calibri"/>
              </a:rPr>
              <a:t>Threat Intelligence is the process of collecting and understanding information about cyber threats so the organization can recognize attacks faster.</a:t>
            </a:r>
          </a:p>
        </p:txBody>
      </p:sp>
      <p:sp>
        <p:nvSpPr>
          <p:cNvPr id="10" name="Rounded Rectangle 9"/>
          <p:cNvSpPr/>
          <p:nvPr/>
        </p:nvSpPr>
        <p:spPr>
          <a:xfrm>
            <a:off x="457200" y="2103120"/>
            <a:ext cx="5212080" cy="384048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286000"/>
            <a:ext cx="4754880" cy="320040"/>
          </a:xfrm>
          <a:prstGeom prst="rect">
            <a:avLst/>
          </a:prstGeom>
          <a:noFill/>
        </p:spPr>
        <p:txBody>
          <a:bodyPr wrap="square" anchor="t"/>
          <a:lstStyle/>
          <a:p>
            <a:pPr algn="l"/>
            <a:r>
              <a:rPr sz="1400" b="1" i="0">
                <a:solidFill>
                  <a:srgbClr val="22D3EE"/>
                </a:solidFill>
                <a:latin typeface="Calibri"/>
              </a:rPr>
              <a:t>SOC  ·  Security Operations</a:t>
            </a:r>
          </a:p>
        </p:txBody>
      </p:sp>
      <p:sp>
        <p:nvSpPr>
          <p:cNvPr id="12" name="TextBox 11"/>
          <p:cNvSpPr txBox="1"/>
          <p:nvPr/>
        </p:nvSpPr>
        <p:spPr>
          <a:xfrm>
            <a:off x="685800" y="2697480"/>
            <a:ext cx="4754880" cy="365760"/>
          </a:xfrm>
          <a:prstGeom prst="rect">
            <a:avLst/>
          </a:prstGeom>
          <a:noFill/>
        </p:spPr>
        <p:txBody>
          <a:bodyPr wrap="square" anchor="t"/>
          <a:lstStyle/>
          <a:p>
            <a:pPr algn="l"/>
            <a:r>
              <a:rPr sz="2000" b="1" i="0">
                <a:solidFill>
                  <a:srgbClr val="F5F7FA"/>
                </a:solidFill>
                <a:latin typeface="Calibri"/>
              </a:rPr>
              <a:t>Watches the environment</a:t>
            </a:r>
          </a:p>
        </p:txBody>
      </p:sp>
      <p:sp>
        <p:nvSpPr>
          <p:cNvPr id="13" name="TextBox 12"/>
          <p:cNvSpPr txBox="1"/>
          <p:nvPr/>
        </p:nvSpPr>
        <p:spPr>
          <a:xfrm>
            <a:off x="777240" y="3200400"/>
            <a:ext cx="4663440" cy="457200"/>
          </a:xfrm>
          <a:prstGeom prst="rect">
            <a:avLst/>
          </a:prstGeom>
          <a:noFill/>
        </p:spPr>
        <p:txBody>
          <a:bodyPr wrap="square" anchor="t"/>
          <a:lstStyle/>
          <a:p>
            <a:pPr algn="l"/>
            <a:r>
              <a:rPr sz="1500" b="0" i="0">
                <a:solidFill>
                  <a:srgbClr val="CBD5E1"/>
                </a:solidFill>
                <a:latin typeface="Calibri"/>
              </a:rPr>
              <a:t>▸   Collects logs, alerts, and telemetry</a:t>
            </a:r>
          </a:p>
        </p:txBody>
      </p:sp>
      <p:sp>
        <p:nvSpPr>
          <p:cNvPr id="14" name="TextBox 13"/>
          <p:cNvSpPr txBox="1"/>
          <p:nvPr/>
        </p:nvSpPr>
        <p:spPr>
          <a:xfrm>
            <a:off x="777240" y="3749039"/>
            <a:ext cx="4663440" cy="457200"/>
          </a:xfrm>
          <a:prstGeom prst="rect">
            <a:avLst/>
          </a:prstGeom>
          <a:noFill/>
        </p:spPr>
        <p:txBody>
          <a:bodyPr wrap="square" anchor="t"/>
          <a:lstStyle/>
          <a:p>
            <a:pPr algn="l"/>
            <a:r>
              <a:rPr sz="1500" b="0" i="0">
                <a:solidFill>
                  <a:srgbClr val="CBD5E1"/>
                </a:solidFill>
                <a:latin typeface="Calibri"/>
              </a:rPr>
              <a:t>▸   Flags suspicious activity in real time</a:t>
            </a:r>
          </a:p>
        </p:txBody>
      </p:sp>
      <p:sp>
        <p:nvSpPr>
          <p:cNvPr id="15" name="TextBox 14"/>
          <p:cNvSpPr txBox="1"/>
          <p:nvPr/>
        </p:nvSpPr>
        <p:spPr>
          <a:xfrm>
            <a:off x="777240" y="4297680"/>
            <a:ext cx="4663440" cy="457200"/>
          </a:xfrm>
          <a:prstGeom prst="rect">
            <a:avLst/>
          </a:prstGeom>
          <a:noFill/>
        </p:spPr>
        <p:txBody>
          <a:bodyPr wrap="square" anchor="t"/>
          <a:lstStyle/>
          <a:p>
            <a:pPr algn="l"/>
            <a:r>
              <a:rPr sz="1500" b="0" i="0">
                <a:solidFill>
                  <a:srgbClr val="CBD5E1"/>
                </a:solidFill>
                <a:latin typeface="Calibri"/>
              </a:rPr>
              <a:t>▸   Correlates security events</a:t>
            </a:r>
          </a:p>
        </p:txBody>
      </p:sp>
      <p:sp>
        <p:nvSpPr>
          <p:cNvPr id="16" name="TextBox 15"/>
          <p:cNvSpPr txBox="1"/>
          <p:nvPr/>
        </p:nvSpPr>
        <p:spPr>
          <a:xfrm>
            <a:off x="777240" y="4846320"/>
            <a:ext cx="4663440" cy="457200"/>
          </a:xfrm>
          <a:prstGeom prst="rect">
            <a:avLst/>
          </a:prstGeom>
          <a:noFill/>
        </p:spPr>
        <p:txBody>
          <a:bodyPr wrap="square" anchor="t"/>
          <a:lstStyle/>
          <a:p>
            <a:pPr algn="l"/>
            <a:r>
              <a:rPr sz="1500" b="0" i="0">
                <a:solidFill>
                  <a:srgbClr val="CBD5E1"/>
                </a:solidFill>
                <a:latin typeface="Calibri"/>
              </a:rPr>
              <a:t>▸   Assists human analysts during incidents</a:t>
            </a:r>
          </a:p>
        </p:txBody>
      </p:sp>
      <p:sp>
        <p:nvSpPr>
          <p:cNvPr id="17" name="Rounded Rectangle 16"/>
          <p:cNvSpPr/>
          <p:nvPr/>
        </p:nvSpPr>
        <p:spPr>
          <a:xfrm>
            <a:off x="5943600" y="2103120"/>
            <a:ext cx="5760720" cy="384048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2286000"/>
            <a:ext cx="5303520" cy="320040"/>
          </a:xfrm>
          <a:prstGeom prst="rect">
            <a:avLst/>
          </a:prstGeom>
          <a:noFill/>
        </p:spPr>
        <p:txBody>
          <a:bodyPr wrap="square" anchor="t"/>
          <a:lstStyle/>
          <a:p>
            <a:pPr algn="l"/>
            <a:r>
              <a:rPr sz="1400" b="1" i="0">
                <a:solidFill>
                  <a:srgbClr val="E8C36A"/>
                </a:solidFill>
                <a:latin typeface="Calibri"/>
              </a:rPr>
              <a:t>TI  ·  Threat Intelligence</a:t>
            </a:r>
          </a:p>
        </p:txBody>
      </p:sp>
      <p:sp>
        <p:nvSpPr>
          <p:cNvPr id="19" name="TextBox 18"/>
          <p:cNvSpPr txBox="1"/>
          <p:nvPr/>
        </p:nvSpPr>
        <p:spPr>
          <a:xfrm>
            <a:off x="6172200" y="2697480"/>
            <a:ext cx="5303520" cy="365760"/>
          </a:xfrm>
          <a:prstGeom prst="rect">
            <a:avLst/>
          </a:prstGeom>
          <a:noFill/>
        </p:spPr>
        <p:txBody>
          <a:bodyPr wrap="square" anchor="t"/>
          <a:lstStyle/>
          <a:p>
            <a:pPr algn="l"/>
            <a:r>
              <a:rPr sz="2000" b="1" i="0">
                <a:solidFill>
                  <a:srgbClr val="F5F7FA"/>
                </a:solidFill>
                <a:latin typeface="Calibri"/>
              </a:rPr>
              <a:t>Explains what the signal means</a:t>
            </a:r>
          </a:p>
        </p:txBody>
      </p:sp>
      <p:sp>
        <p:nvSpPr>
          <p:cNvPr id="20" name="TextBox 19"/>
          <p:cNvSpPr txBox="1"/>
          <p:nvPr/>
        </p:nvSpPr>
        <p:spPr>
          <a:xfrm>
            <a:off x="6263640" y="3200400"/>
            <a:ext cx="5212080" cy="457200"/>
          </a:xfrm>
          <a:prstGeom prst="rect">
            <a:avLst/>
          </a:prstGeom>
          <a:noFill/>
        </p:spPr>
        <p:txBody>
          <a:bodyPr wrap="square" anchor="t"/>
          <a:lstStyle/>
          <a:p>
            <a:pPr algn="l"/>
            <a:r>
              <a:rPr sz="1500" b="0" i="0">
                <a:solidFill>
                  <a:srgbClr val="CBD5E1"/>
                </a:solidFill>
                <a:latin typeface="Calibri"/>
              </a:rPr>
              <a:t>▸   Identifies indicators of compromise (IOCs)</a:t>
            </a:r>
          </a:p>
        </p:txBody>
      </p:sp>
      <p:sp>
        <p:nvSpPr>
          <p:cNvPr id="21" name="TextBox 20"/>
          <p:cNvSpPr txBox="1"/>
          <p:nvPr/>
        </p:nvSpPr>
        <p:spPr>
          <a:xfrm>
            <a:off x="6263640" y="3749039"/>
            <a:ext cx="5212080" cy="457200"/>
          </a:xfrm>
          <a:prstGeom prst="rect">
            <a:avLst/>
          </a:prstGeom>
          <a:noFill/>
        </p:spPr>
        <p:txBody>
          <a:bodyPr wrap="square" anchor="t"/>
          <a:lstStyle/>
          <a:p>
            <a:pPr algn="l"/>
            <a:r>
              <a:rPr sz="1500" b="0" i="0">
                <a:solidFill>
                  <a:srgbClr val="CBD5E1"/>
                </a:solidFill>
                <a:latin typeface="Calibri"/>
              </a:rPr>
              <a:t>▸   Checks if an IP, domain, or file is known-bad</a:t>
            </a:r>
          </a:p>
        </p:txBody>
      </p:sp>
      <p:sp>
        <p:nvSpPr>
          <p:cNvPr id="22" name="TextBox 21"/>
          <p:cNvSpPr txBox="1"/>
          <p:nvPr/>
        </p:nvSpPr>
        <p:spPr>
          <a:xfrm>
            <a:off x="6263640" y="4297680"/>
            <a:ext cx="5212080" cy="457200"/>
          </a:xfrm>
          <a:prstGeom prst="rect">
            <a:avLst/>
          </a:prstGeom>
          <a:noFill/>
        </p:spPr>
        <p:txBody>
          <a:bodyPr wrap="square" anchor="t"/>
          <a:lstStyle/>
          <a:p>
            <a:pPr algn="l"/>
            <a:r>
              <a:rPr sz="1500" b="0" i="0">
                <a:solidFill>
                  <a:srgbClr val="CBD5E1"/>
                </a:solidFill>
                <a:latin typeface="Calibri"/>
              </a:rPr>
              <a:t>▸   Tracks emerging campaigns and actors</a:t>
            </a:r>
          </a:p>
        </p:txBody>
      </p:sp>
      <p:sp>
        <p:nvSpPr>
          <p:cNvPr id="23" name="TextBox 22"/>
          <p:cNvSpPr txBox="1"/>
          <p:nvPr/>
        </p:nvSpPr>
        <p:spPr>
          <a:xfrm>
            <a:off x="6263640" y="4846320"/>
            <a:ext cx="5212080" cy="457200"/>
          </a:xfrm>
          <a:prstGeom prst="rect">
            <a:avLst/>
          </a:prstGeom>
          <a:noFill/>
        </p:spPr>
        <p:txBody>
          <a:bodyPr wrap="square" anchor="t"/>
          <a:lstStyle/>
          <a:p>
            <a:pPr algn="l"/>
            <a:r>
              <a:rPr sz="1500" b="0" i="0">
                <a:solidFill>
                  <a:srgbClr val="CBD5E1"/>
                </a:solidFill>
                <a:latin typeface="Calibri"/>
              </a:rPr>
              <a:t>▸   Shares useful intelligence back to the SOC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510528"/>
            <a:ext cx="7315200" cy="256032"/>
          </a:xfrm>
          <a:prstGeom prst="rect">
            <a:avLst/>
          </a:prstGeom>
          <a:noFill/>
        </p:spPr>
        <p:txBody>
          <a:bodyPr wrap="square" anchor="t"/>
          <a:lstStyle/>
          <a:p>
            <a:pPr algn="l"/>
            <a:r>
              <a:rPr sz="1100" b="0" i="0">
                <a:solidFill>
                  <a:srgbClr val="9AABC4"/>
                </a:solidFill>
                <a:latin typeface="Calibri"/>
              </a:rPr>
              <a:t>VRINDHA AI  ·  Intelligent Cybersecurity &amp; SOC System</a:t>
            </a:r>
          </a:p>
        </p:txBody>
      </p:sp>
      <p:sp>
        <p:nvSpPr>
          <p:cNvPr id="5" name="TextBox 4"/>
          <p:cNvSpPr txBox="1"/>
          <p:nvPr/>
        </p:nvSpPr>
        <p:spPr>
          <a:xfrm>
            <a:off x="10607040" y="6510528"/>
            <a:ext cx="1280160" cy="256032"/>
          </a:xfrm>
          <a:prstGeom prst="rect">
            <a:avLst/>
          </a:prstGeom>
          <a:noFill/>
        </p:spPr>
        <p:txBody>
          <a:bodyPr wrap="square" anchor="t"/>
          <a:lstStyle/>
          <a:p>
            <a:pPr algn="r"/>
            <a:r>
              <a:rPr sz="1100" b="0" i="0">
                <a:solidFill>
                  <a:srgbClr val="9AABC4"/>
                </a:solidFill>
                <a:latin typeface="Calibri"/>
              </a:rPr>
              <a:t>08  /  16</a:t>
            </a:r>
          </a:p>
        </p:txBody>
      </p:sp>
      <p:sp>
        <p:nvSpPr>
          <p:cNvPr id="6" name="TextBox 5"/>
          <p:cNvSpPr txBox="1"/>
          <p:nvPr/>
        </p:nvSpPr>
        <p:spPr>
          <a:xfrm>
            <a:off x="457200" y="256032"/>
            <a:ext cx="10972800" cy="256032"/>
          </a:xfrm>
          <a:prstGeom prst="rect">
            <a:avLst/>
          </a:prstGeom>
          <a:noFill/>
        </p:spPr>
        <p:txBody>
          <a:bodyPr wrap="square" anchor="t"/>
          <a:lstStyle/>
          <a:p>
            <a:pPr algn="l"/>
            <a:r>
              <a:rPr sz="1200" b="1" i="0">
                <a:solidFill>
                  <a:srgbClr val="22D3EE"/>
                </a:solidFill>
                <a:latin typeface="Calibri"/>
              </a:rPr>
              <a:t>07  ·  ARCHITECTURE</a:t>
            </a:r>
          </a:p>
        </p:txBody>
      </p:sp>
      <p:sp>
        <p:nvSpPr>
          <p:cNvPr id="7" name="TextBox 6"/>
          <p:cNvSpPr txBox="1"/>
          <p:nvPr/>
        </p:nvSpPr>
        <p:spPr>
          <a:xfrm>
            <a:off x="457200" y="475488"/>
            <a:ext cx="11247120" cy="640080"/>
          </a:xfrm>
          <a:prstGeom prst="rect">
            <a:avLst/>
          </a:prstGeom>
          <a:noFill/>
        </p:spPr>
        <p:txBody>
          <a:bodyPr wrap="square" anchor="t"/>
          <a:lstStyle/>
          <a:p>
            <a:pPr algn="l"/>
            <a:r>
              <a:rPr sz="3000" b="1" i="0">
                <a:solidFill>
                  <a:srgbClr val="F5F7FA"/>
                </a:solidFill>
                <a:latin typeface="Calibri"/>
              </a:rPr>
              <a:t>Specialized AI modules — one organization</a:t>
            </a:r>
          </a:p>
        </p:txBody>
      </p:sp>
      <p:sp>
        <p:nvSpPr>
          <p:cNvPr id="8" name="Rectangle 7"/>
          <p:cNvSpPr/>
          <p:nvPr/>
        </p:nvSpPr>
        <p:spPr>
          <a:xfrm>
            <a:off x="457200" y="1097280"/>
            <a:ext cx="1280160" cy="4445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5760" y="1371600"/>
            <a:ext cx="2816352" cy="219456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371600"/>
            <a:ext cx="64008" cy="21945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517904"/>
            <a:ext cx="2496312" cy="329184"/>
          </a:xfrm>
          <a:prstGeom prst="rect">
            <a:avLst/>
          </a:prstGeom>
          <a:noFill/>
        </p:spPr>
        <p:txBody>
          <a:bodyPr wrap="square" anchor="t"/>
          <a:lstStyle/>
          <a:p>
            <a:pPr algn="l"/>
            <a:r>
              <a:rPr sz="1600" b="1" i="0">
                <a:solidFill>
                  <a:srgbClr val="F5F7FA"/>
                </a:solidFill>
                <a:latin typeface="Calibri"/>
              </a:rPr>
              <a:t>Commander AI</a:t>
            </a:r>
          </a:p>
        </p:txBody>
      </p:sp>
      <p:sp>
        <p:nvSpPr>
          <p:cNvPr id="12" name="TextBox 11"/>
          <p:cNvSpPr txBox="1"/>
          <p:nvPr/>
        </p:nvSpPr>
        <p:spPr>
          <a:xfrm>
            <a:off x="566928" y="1847088"/>
            <a:ext cx="2496312" cy="1609344"/>
          </a:xfrm>
          <a:prstGeom prst="rect">
            <a:avLst/>
          </a:prstGeom>
          <a:noFill/>
        </p:spPr>
        <p:txBody>
          <a:bodyPr wrap="square" anchor="t"/>
          <a:lstStyle/>
          <a:p>
            <a:pPr algn="l"/>
            <a:r>
              <a:rPr sz="1300" b="0" i="0">
                <a:solidFill>
                  <a:srgbClr val="CBD5E1"/>
                </a:solidFill>
                <a:latin typeface="Calibri"/>
              </a:rPr>
              <a:t>Oversees the system, coordinates information, and directs defensive response.</a:t>
            </a:r>
          </a:p>
        </p:txBody>
      </p:sp>
      <p:sp>
        <p:nvSpPr>
          <p:cNvPr id="13" name="Rounded Rectangle 12"/>
          <p:cNvSpPr/>
          <p:nvPr/>
        </p:nvSpPr>
        <p:spPr>
          <a:xfrm>
            <a:off x="3310128" y="1371600"/>
            <a:ext cx="2816352" cy="219456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10128" y="1371600"/>
            <a:ext cx="64008" cy="21945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1296" y="1517904"/>
            <a:ext cx="2496312" cy="329184"/>
          </a:xfrm>
          <a:prstGeom prst="rect">
            <a:avLst/>
          </a:prstGeom>
          <a:noFill/>
        </p:spPr>
        <p:txBody>
          <a:bodyPr wrap="square" anchor="t"/>
          <a:lstStyle/>
          <a:p>
            <a:pPr algn="l"/>
            <a:r>
              <a:rPr sz="1600" b="1" i="0">
                <a:solidFill>
                  <a:srgbClr val="F5F7FA"/>
                </a:solidFill>
                <a:latin typeface="Calibri"/>
              </a:rPr>
              <a:t>Threat Intelligence AI</a:t>
            </a:r>
          </a:p>
        </p:txBody>
      </p:sp>
      <p:sp>
        <p:nvSpPr>
          <p:cNvPr id="16" name="TextBox 15"/>
          <p:cNvSpPr txBox="1"/>
          <p:nvPr/>
        </p:nvSpPr>
        <p:spPr>
          <a:xfrm>
            <a:off x="3511296" y="1847088"/>
            <a:ext cx="2496312" cy="1609344"/>
          </a:xfrm>
          <a:prstGeom prst="rect">
            <a:avLst/>
          </a:prstGeom>
          <a:noFill/>
        </p:spPr>
        <p:txBody>
          <a:bodyPr wrap="square" anchor="t"/>
          <a:lstStyle/>
          <a:p>
            <a:pPr algn="l"/>
            <a:r>
              <a:rPr sz="1300" b="0" i="0">
                <a:solidFill>
                  <a:srgbClr val="CBD5E1"/>
                </a:solidFill>
                <a:latin typeface="Calibri"/>
              </a:rPr>
              <a:t>Collects threat data, identifies IOCs, and shares useful intelligence.</a:t>
            </a:r>
          </a:p>
        </p:txBody>
      </p:sp>
      <p:sp>
        <p:nvSpPr>
          <p:cNvPr id="17" name="Rounded Rectangle 16"/>
          <p:cNvSpPr/>
          <p:nvPr/>
        </p:nvSpPr>
        <p:spPr>
          <a:xfrm>
            <a:off x="6254496" y="1371600"/>
            <a:ext cx="2816352" cy="219456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54496" y="1371600"/>
            <a:ext cx="64008" cy="21945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55664" y="1517904"/>
            <a:ext cx="2496312" cy="329184"/>
          </a:xfrm>
          <a:prstGeom prst="rect">
            <a:avLst/>
          </a:prstGeom>
          <a:noFill/>
        </p:spPr>
        <p:txBody>
          <a:bodyPr wrap="square" anchor="t"/>
          <a:lstStyle/>
          <a:p>
            <a:pPr algn="l"/>
            <a:r>
              <a:rPr sz="1600" b="1" i="0">
                <a:solidFill>
                  <a:srgbClr val="F5F7FA"/>
                </a:solidFill>
                <a:latin typeface="Calibri"/>
              </a:rPr>
              <a:t>SOC Analyst AI</a:t>
            </a:r>
          </a:p>
        </p:txBody>
      </p:sp>
      <p:sp>
        <p:nvSpPr>
          <p:cNvPr id="20" name="TextBox 19"/>
          <p:cNvSpPr txBox="1"/>
          <p:nvPr/>
        </p:nvSpPr>
        <p:spPr>
          <a:xfrm>
            <a:off x="6455664" y="1847088"/>
            <a:ext cx="2496312" cy="1609344"/>
          </a:xfrm>
          <a:prstGeom prst="rect">
            <a:avLst/>
          </a:prstGeom>
          <a:noFill/>
        </p:spPr>
        <p:txBody>
          <a:bodyPr wrap="square" anchor="t"/>
          <a:lstStyle/>
          <a:p>
            <a:pPr algn="l"/>
            <a:r>
              <a:rPr sz="1300" b="0" i="0">
                <a:solidFill>
                  <a:srgbClr val="CBD5E1"/>
                </a:solidFill>
                <a:latin typeface="Calibri"/>
              </a:rPr>
              <a:t>Investigates alerts, correlates events, and recommends response steps.</a:t>
            </a:r>
          </a:p>
        </p:txBody>
      </p:sp>
      <p:sp>
        <p:nvSpPr>
          <p:cNvPr id="21" name="Rounded Rectangle 20"/>
          <p:cNvSpPr/>
          <p:nvPr/>
        </p:nvSpPr>
        <p:spPr>
          <a:xfrm>
            <a:off x="9198864" y="1371600"/>
            <a:ext cx="2816352" cy="219456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98864" y="1371600"/>
            <a:ext cx="64008" cy="21945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00032" y="1517904"/>
            <a:ext cx="2496312" cy="329184"/>
          </a:xfrm>
          <a:prstGeom prst="rect">
            <a:avLst/>
          </a:prstGeom>
          <a:noFill/>
        </p:spPr>
        <p:txBody>
          <a:bodyPr wrap="square" anchor="t"/>
          <a:lstStyle/>
          <a:p>
            <a:pPr algn="l"/>
            <a:r>
              <a:rPr sz="1600" b="1" i="0">
                <a:solidFill>
                  <a:srgbClr val="F5F7FA"/>
                </a:solidFill>
                <a:latin typeface="Calibri"/>
              </a:rPr>
              <a:t>Data Science AI</a:t>
            </a:r>
          </a:p>
        </p:txBody>
      </p:sp>
      <p:sp>
        <p:nvSpPr>
          <p:cNvPr id="24" name="TextBox 23"/>
          <p:cNvSpPr txBox="1"/>
          <p:nvPr/>
        </p:nvSpPr>
        <p:spPr>
          <a:xfrm>
            <a:off x="9400032" y="1847088"/>
            <a:ext cx="2496312" cy="1609344"/>
          </a:xfrm>
          <a:prstGeom prst="rect">
            <a:avLst/>
          </a:prstGeom>
          <a:noFill/>
        </p:spPr>
        <p:txBody>
          <a:bodyPr wrap="square" anchor="t"/>
          <a:lstStyle/>
          <a:p>
            <a:pPr algn="l"/>
            <a:r>
              <a:rPr sz="1300" b="0" i="0">
                <a:solidFill>
                  <a:srgbClr val="CBD5E1"/>
                </a:solidFill>
                <a:latin typeface="Calibri"/>
              </a:rPr>
              <a:t>Analyzes security data and improves anomaly detection and risk models.</a:t>
            </a:r>
          </a:p>
        </p:txBody>
      </p:sp>
      <p:sp>
        <p:nvSpPr>
          <p:cNvPr id="25" name="Rounded Rectangle 24"/>
          <p:cNvSpPr/>
          <p:nvPr/>
        </p:nvSpPr>
        <p:spPr>
          <a:xfrm>
            <a:off x="1783080" y="3749039"/>
            <a:ext cx="2816352" cy="219456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83080" y="3749039"/>
            <a:ext cx="64008" cy="219456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84248" y="3895343"/>
            <a:ext cx="2496312" cy="329184"/>
          </a:xfrm>
          <a:prstGeom prst="rect">
            <a:avLst/>
          </a:prstGeom>
          <a:noFill/>
        </p:spPr>
        <p:txBody>
          <a:bodyPr wrap="square" anchor="t"/>
          <a:lstStyle/>
          <a:p>
            <a:pPr algn="l"/>
            <a:r>
              <a:rPr sz="1600" b="1" i="0">
                <a:solidFill>
                  <a:srgbClr val="F5F7FA"/>
                </a:solidFill>
                <a:latin typeface="Calibri"/>
              </a:rPr>
              <a:t>Infrastructure AI</a:t>
            </a:r>
          </a:p>
        </p:txBody>
      </p:sp>
      <p:sp>
        <p:nvSpPr>
          <p:cNvPr id="28" name="TextBox 27"/>
          <p:cNvSpPr txBox="1"/>
          <p:nvPr/>
        </p:nvSpPr>
        <p:spPr>
          <a:xfrm>
            <a:off x="1984248" y="4224527"/>
            <a:ext cx="2496312" cy="1609344"/>
          </a:xfrm>
          <a:prstGeom prst="rect">
            <a:avLst/>
          </a:prstGeom>
          <a:noFill/>
        </p:spPr>
        <p:txBody>
          <a:bodyPr wrap="square" anchor="t"/>
          <a:lstStyle/>
          <a:p>
            <a:pPr algn="l"/>
            <a:r>
              <a:rPr sz="1300" b="0" i="0">
                <a:solidFill>
                  <a:srgbClr val="CBD5E1"/>
                </a:solidFill>
                <a:latin typeface="Calibri"/>
              </a:rPr>
              <a:t>Monitors servers, databases, networks, and service health.</a:t>
            </a:r>
          </a:p>
        </p:txBody>
      </p:sp>
      <p:sp>
        <p:nvSpPr>
          <p:cNvPr id="29" name="Rounded Rectangle 28"/>
          <p:cNvSpPr/>
          <p:nvPr/>
        </p:nvSpPr>
        <p:spPr>
          <a:xfrm>
            <a:off x="4727448" y="3749039"/>
            <a:ext cx="2816352" cy="219456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27448" y="3749039"/>
            <a:ext cx="64008" cy="219456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28616" y="3895343"/>
            <a:ext cx="2496312" cy="329184"/>
          </a:xfrm>
          <a:prstGeom prst="rect">
            <a:avLst/>
          </a:prstGeom>
          <a:noFill/>
        </p:spPr>
        <p:txBody>
          <a:bodyPr wrap="square" anchor="t"/>
          <a:lstStyle/>
          <a:p>
            <a:pPr algn="l"/>
            <a:r>
              <a:rPr sz="1600" b="1" i="0">
                <a:solidFill>
                  <a:srgbClr val="F5F7FA"/>
                </a:solidFill>
                <a:latin typeface="Calibri"/>
              </a:rPr>
              <a:t>Knowledge AI</a:t>
            </a:r>
          </a:p>
        </p:txBody>
      </p:sp>
      <p:sp>
        <p:nvSpPr>
          <p:cNvPr id="32" name="TextBox 31"/>
          <p:cNvSpPr txBox="1"/>
          <p:nvPr/>
        </p:nvSpPr>
        <p:spPr>
          <a:xfrm>
            <a:off x="4928616" y="4224527"/>
            <a:ext cx="2496312" cy="1609344"/>
          </a:xfrm>
          <a:prstGeom prst="rect">
            <a:avLst/>
          </a:prstGeom>
          <a:noFill/>
        </p:spPr>
        <p:txBody>
          <a:bodyPr wrap="square" anchor="t"/>
          <a:lstStyle/>
          <a:p>
            <a:pPr algn="l"/>
            <a:r>
              <a:rPr sz="1300" b="0" i="0">
                <a:solidFill>
                  <a:srgbClr val="CBD5E1"/>
                </a:solidFill>
                <a:latin typeface="Calibri"/>
              </a:rPr>
              <a:t>Stores procedures, past incidents, and lessons learned.</a:t>
            </a:r>
          </a:p>
        </p:txBody>
      </p:sp>
      <p:sp>
        <p:nvSpPr>
          <p:cNvPr id="33" name="Rounded Rectangle 32"/>
          <p:cNvSpPr/>
          <p:nvPr/>
        </p:nvSpPr>
        <p:spPr>
          <a:xfrm>
            <a:off x="7671816" y="3749039"/>
            <a:ext cx="2816352" cy="219456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671816" y="3749039"/>
            <a:ext cx="64008" cy="2194560"/>
          </a:xfrm>
          <a:prstGeom prst="rect">
            <a:avLst/>
          </a:prstGeom>
          <a:solidFill>
            <a:srgbClr val="E8C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72984" y="3895343"/>
            <a:ext cx="2496312" cy="329184"/>
          </a:xfrm>
          <a:prstGeom prst="rect">
            <a:avLst/>
          </a:prstGeom>
          <a:noFill/>
        </p:spPr>
        <p:txBody>
          <a:bodyPr wrap="square" anchor="t"/>
          <a:lstStyle/>
          <a:p>
            <a:pPr algn="l"/>
            <a:r>
              <a:rPr sz="1600" b="1" i="0">
                <a:solidFill>
                  <a:srgbClr val="F5F7FA"/>
                </a:solidFill>
                <a:latin typeface="Calibri"/>
              </a:rPr>
              <a:t>Ethics &amp; Compliance AI</a:t>
            </a:r>
          </a:p>
        </p:txBody>
      </p:sp>
      <p:sp>
        <p:nvSpPr>
          <p:cNvPr id="36" name="TextBox 35"/>
          <p:cNvSpPr txBox="1"/>
          <p:nvPr/>
        </p:nvSpPr>
        <p:spPr>
          <a:xfrm>
            <a:off x="7872984" y="4224527"/>
            <a:ext cx="2496312" cy="1609344"/>
          </a:xfrm>
          <a:prstGeom prst="rect">
            <a:avLst/>
          </a:prstGeom>
          <a:noFill/>
        </p:spPr>
        <p:txBody>
          <a:bodyPr wrap="square" anchor="t"/>
          <a:lstStyle/>
          <a:p>
            <a:pPr algn="l"/>
            <a:r>
              <a:rPr sz="1300" b="0" i="0">
                <a:solidFill>
                  <a:srgbClr val="CBD5E1"/>
                </a:solidFill>
                <a:latin typeface="Calibri"/>
              </a:rPr>
              <a:t>Checks authorization, policy, and ethical limits before action.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510528"/>
            <a:ext cx="7315200" cy="256032"/>
          </a:xfrm>
          <a:prstGeom prst="rect">
            <a:avLst/>
          </a:prstGeom>
          <a:noFill/>
        </p:spPr>
        <p:txBody>
          <a:bodyPr wrap="square" anchor="t"/>
          <a:lstStyle/>
          <a:p>
            <a:pPr algn="l"/>
            <a:r>
              <a:rPr sz="1100" b="0" i="0">
                <a:solidFill>
                  <a:srgbClr val="9AABC4"/>
                </a:solidFill>
                <a:latin typeface="Calibri"/>
              </a:rPr>
              <a:t>VRINDHA AI  ·  Intelligent Cybersecurity &amp; SOC System</a:t>
            </a:r>
          </a:p>
        </p:txBody>
      </p:sp>
      <p:sp>
        <p:nvSpPr>
          <p:cNvPr id="5" name="TextBox 4"/>
          <p:cNvSpPr txBox="1"/>
          <p:nvPr/>
        </p:nvSpPr>
        <p:spPr>
          <a:xfrm>
            <a:off x="10607040" y="6510528"/>
            <a:ext cx="1280160" cy="256032"/>
          </a:xfrm>
          <a:prstGeom prst="rect">
            <a:avLst/>
          </a:prstGeom>
          <a:noFill/>
        </p:spPr>
        <p:txBody>
          <a:bodyPr wrap="square" anchor="t"/>
          <a:lstStyle/>
          <a:p>
            <a:pPr algn="r"/>
            <a:r>
              <a:rPr sz="1100" b="0" i="0">
                <a:solidFill>
                  <a:srgbClr val="9AABC4"/>
                </a:solidFill>
                <a:latin typeface="Calibri"/>
              </a:rPr>
              <a:t>09  /  16</a:t>
            </a:r>
          </a:p>
        </p:txBody>
      </p:sp>
      <p:sp>
        <p:nvSpPr>
          <p:cNvPr id="6" name="TextBox 5"/>
          <p:cNvSpPr txBox="1"/>
          <p:nvPr/>
        </p:nvSpPr>
        <p:spPr>
          <a:xfrm>
            <a:off x="457200" y="256032"/>
            <a:ext cx="10972800" cy="256032"/>
          </a:xfrm>
          <a:prstGeom prst="rect">
            <a:avLst/>
          </a:prstGeom>
          <a:noFill/>
        </p:spPr>
        <p:txBody>
          <a:bodyPr wrap="square" anchor="t"/>
          <a:lstStyle/>
          <a:p>
            <a:pPr algn="l"/>
            <a:r>
              <a:rPr sz="1200" b="1" i="0">
                <a:solidFill>
                  <a:srgbClr val="22D3EE"/>
                </a:solidFill>
                <a:latin typeface="Calibri"/>
              </a:rPr>
              <a:t>08  ·  CENTRAL INTELLIGENCE</a:t>
            </a:r>
          </a:p>
        </p:txBody>
      </p:sp>
      <p:sp>
        <p:nvSpPr>
          <p:cNvPr id="7" name="TextBox 6"/>
          <p:cNvSpPr txBox="1"/>
          <p:nvPr/>
        </p:nvSpPr>
        <p:spPr>
          <a:xfrm>
            <a:off x="457200" y="475488"/>
            <a:ext cx="11247120" cy="640080"/>
          </a:xfrm>
          <a:prstGeom prst="rect">
            <a:avLst/>
          </a:prstGeom>
          <a:noFill/>
        </p:spPr>
        <p:txBody>
          <a:bodyPr wrap="square" anchor="t"/>
          <a:lstStyle/>
          <a:p>
            <a:pPr algn="l"/>
            <a:r>
              <a:rPr sz="3000" b="1" i="0">
                <a:solidFill>
                  <a:srgbClr val="F5F7FA"/>
                </a:solidFill>
                <a:latin typeface="Calibri"/>
              </a:rPr>
              <a:t>Hive intelligence — a coordinated team</a:t>
            </a:r>
          </a:p>
        </p:txBody>
      </p:sp>
      <p:sp>
        <p:nvSpPr>
          <p:cNvPr id="8" name="Rectangle 7"/>
          <p:cNvSpPr/>
          <p:nvPr/>
        </p:nvSpPr>
        <p:spPr>
          <a:xfrm>
            <a:off x="457200" y="1097280"/>
            <a:ext cx="1280160" cy="4445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ive_network.png"/>
          <p:cNvPicPr>
            <a:picLocks noChangeAspect="1"/>
          </p:cNvPicPr>
          <p:nvPr/>
        </p:nvPicPr>
        <p:blipFill>
          <a:blip r:embed="rId2"/>
          <a:stretch>
            <a:fillRect/>
          </a:stretch>
        </p:blipFill>
        <p:spPr>
          <a:xfrm>
            <a:off x="7178040" y="1417320"/>
            <a:ext cx="4617720" cy="4709160"/>
          </a:xfrm>
          <a:prstGeom prst="rect">
            <a:avLst/>
          </a:prstGeom>
        </p:spPr>
      </p:pic>
      <p:sp>
        <p:nvSpPr>
          <p:cNvPr id="10" name="TextBox 9"/>
          <p:cNvSpPr txBox="1"/>
          <p:nvPr/>
        </p:nvSpPr>
        <p:spPr>
          <a:xfrm>
            <a:off x="457200" y="1371600"/>
            <a:ext cx="6537960" cy="777240"/>
          </a:xfrm>
          <a:prstGeom prst="rect">
            <a:avLst/>
          </a:prstGeom>
          <a:noFill/>
        </p:spPr>
        <p:txBody>
          <a:bodyPr wrap="square" anchor="t"/>
          <a:lstStyle/>
          <a:p>
            <a:pPr algn="l"/>
            <a:r>
              <a:rPr sz="1600" b="0" i="0">
                <a:solidFill>
                  <a:srgbClr val="CBD5E1"/>
                </a:solidFill>
                <a:latin typeface="Calibri"/>
              </a:rPr>
              <a:t>Each AI has a specific responsibility. They communicate. The center correlates.</a:t>
            </a:r>
          </a:p>
        </p:txBody>
      </p:sp>
      <p:sp>
        <p:nvSpPr>
          <p:cNvPr id="11" name="Rounded Rectangle 10"/>
          <p:cNvSpPr/>
          <p:nvPr/>
        </p:nvSpPr>
        <p:spPr>
          <a:xfrm>
            <a:off x="457200" y="2194560"/>
            <a:ext cx="6537960" cy="54864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21792" y="2340864"/>
            <a:ext cx="256032" cy="256032"/>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304288"/>
            <a:ext cx="5760720" cy="365760"/>
          </a:xfrm>
          <a:prstGeom prst="rect">
            <a:avLst/>
          </a:prstGeom>
          <a:noFill/>
        </p:spPr>
        <p:txBody>
          <a:bodyPr wrap="square" anchor="t"/>
          <a:lstStyle/>
          <a:p>
            <a:pPr algn="l"/>
            <a:r>
              <a:rPr sz="1500" b="0" i="0">
                <a:solidFill>
                  <a:srgbClr val="F5F7FA"/>
                </a:solidFill>
                <a:latin typeface="Calibri"/>
              </a:rPr>
              <a:t>Correlate events from multiple systems</a:t>
            </a:r>
          </a:p>
        </p:txBody>
      </p:sp>
      <p:sp>
        <p:nvSpPr>
          <p:cNvPr id="14" name="Rounded Rectangle 13"/>
          <p:cNvSpPr/>
          <p:nvPr/>
        </p:nvSpPr>
        <p:spPr>
          <a:xfrm>
            <a:off x="457200" y="2816352"/>
            <a:ext cx="6537960" cy="54864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1792" y="2962656"/>
            <a:ext cx="256032" cy="256032"/>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926080"/>
            <a:ext cx="5760720" cy="365760"/>
          </a:xfrm>
          <a:prstGeom prst="rect">
            <a:avLst/>
          </a:prstGeom>
          <a:noFill/>
        </p:spPr>
        <p:txBody>
          <a:bodyPr wrap="square" anchor="t"/>
          <a:lstStyle/>
          <a:p>
            <a:pPr algn="l"/>
            <a:r>
              <a:rPr sz="1500" b="0" i="0">
                <a:solidFill>
                  <a:srgbClr val="F5F7FA"/>
                </a:solidFill>
                <a:latin typeface="Calibri"/>
              </a:rPr>
              <a:t>Detect emerging attack patterns</a:t>
            </a:r>
          </a:p>
        </p:txBody>
      </p:sp>
      <p:sp>
        <p:nvSpPr>
          <p:cNvPr id="17" name="Rounded Rectangle 16"/>
          <p:cNvSpPr/>
          <p:nvPr/>
        </p:nvSpPr>
        <p:spPr>
          <a:xfrm>
            <a:off x="457200" y="3438144"/>
            <a:ext cx="6537960" cy="54864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3584448"/>
            <a:ext cx="256032" cy="256032"/>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547872"/>
            <a:ext cx="5760720" cy="365760"/>
          </a:xfrm>
          <a:prstGeom prst="rect">
            <a:avLst/>
          </a:prstGeom>
          <a:noFill/>
        </p:spPr>
        <p:txBody>
          <a:bodyPr wrap="square" anchor="t"/>
          <a:lstStyle/>
          <a:p>
            <a:pPr algn="l"/>
            <a:r>
              <a:rPr sz="1500" b="0" i="0">
                <a:solidFill>
                  <a:srgbClr val="F5F7FA"/>
                </a:solidFill>
                <a:latin typeface="Calibri"/>
              </a:rPr>
              <a:t>Share defensive intelligence</a:t>
            </a:r>
          </a:p>
        </p:txBody>
      </p:sp>
      <p:sp>
        <p:nvSpPr>
          <p:cNvPr id="20" name="Rounded Rectangle 19"/>
          <p:cNvSpPr/>
          <p:nvPr/>
        </p:nvSpPr>
        <p:spPr>
          <a:xfrm>
            <a:off x="457200" y="4059935"/>
            <a:ext cx="6537960" cy="54864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1792" y="4206239"/>
            <a:ext cx="256032" cy="256032"/>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169663"/>
            <a:ext cx="5760720" cy="365760"/>
          </a:xfrm>
          <a:prstGeom prst="rect">
            <a:avLst/>
          </a:prstGeom>
          <a:noFill/>
        </p:spPr>
        <p:txBody>
          <a:bodyPr wrap="square" anchor="t"/>
          <a:lstStyle/>
          <a:p>
            <a:pPr algn="l"/>
            <a:r>
              <a:rPr sz="1500" b="0" i="0">
                <a:solidFill>
                  <a:srgbClr val="F5F7FA"/>
                </a:solidFill>
                <a:latin typeface="Calibri"/>
              </a:rPr>
              <a:t>Improve models using historical incidents</a:t>
            </a:r>
          </a:p>
        </p:txBody>
      </p:sp>
      <p:sp>
        <p:nvSpPr>
          <p:cNvPr id="23" name="Rounded Rectangle 22"/>
          <p:cNvSpPr/>
          <p:nvPr/>
        </p:nvSpPr>
        <p:spPr>
          <a:xfrm>
            <a:off x="457200" y="4681728"/>
            <a:ext cx="6537960" cy="54864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21792" y="4828032"/>
            <a:ext cx="256032" cy="256032"/>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791456"/>
            <a:ext cx="5760720" cy="365760"/>
          </a:xfrm>
          <a:prstGeom prst="rect">
            <a:avLst/>
          </a:prstGeom>
          <a:noFill/>
        </p:spPr>
        <p:txBody>
          <a:bodyPr wrap="square" anchor="t"/>
          <a:lstStyle/>
          <a:p>
            <a:pPr algn="l"/>
            <a:r>
              <a:rPr sz="1500" b="0" i="0">
                <a:solidFill>
                  <a:srgbClr val="F5F7FA"/>
                </a:solidFill>
                <a:latin typeface="Calibri"/>
              </a:rPr>
              <a:t>Generate situation reports for administrators</a:t>
            </a:r>
          </a:p>
        </p:txBody>
      </p:sp>
      <p:sp>
        <p:nvSpPr>
          <p:cNvPr id="26" name="Rounded Rectangle 25"/>
          <p:cNvSpPr/>
          <p:nvPr/>
        </p:nvSpPr>
        <p:spPr>
          <a:xfrm>
            <a:off x="457200" y="5303520"/>
            <a:ext cx="6537960" cy="54864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21792" y="5449824"/>
            <a:ext cx="256032" cy="256032"/>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413248"/>
            <a:ext cx="5760720" cy="365760"/>
          </a:xfrm>
          <a:prstGeom prst="rect">
            <a:avLst/>
          </a:prstGeom>
          <a:noFill/>
        </p:spPr>
        <p:txBody>
          <a:bodyPr wrap="square" anchor="t"/>
          <a:lstStyle/>
          <a:p>
            <a:pPr algn="l"/>
            <a:r>
              <a:rPr sz="1500" b="0" i="0">
                <a:solidFill>
                  <a:srgbClr val="F5F7FA"/>
                </a:solidFill>
                <a:latin typeface="Calibri"/>
              </a:rPr>
              <a:t>Recommend response strategies to humans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510528"/>
            <a:ext cx="7315200" cy="256032"/>
          </a:xfrm>
          <a:prstGeom prst="rect">
            <a:avLst/>
          </a:prstGeom>
          <a:noFill/>
        </p:spPr>
        <p:txBody>
          <a:bodyPr wrap="square" anchor="t"/>
          <a:lstStyle/>
          <a:p>
            <a:pPr algn="l"/>
            <a:r>
              <a:rPr sz="1100" b="0" i="0">
                <a:solidFill>
                  <a:srgbClr val="9AABC4"/>
                </a:solidFill>
                <a:latin typeface="Calibri"/>
              </a:rPr>
              <a:t>VRINDHA AI  ·  Intelligent Cybersecurity &amp; SOC System</a:t>
            </a:r>
          </a:p>
        </p:txBody>
      </p:sp>
      <p:sp>
        <p:nvSpPr>
          <p:cNvPr id="5" name="TextBox 4"/>
          <p:cNvSpPr txBox="1"/>
          <p:nvPr/>
        </p:nvSpPr>
        <p:spPr>
          <a:xfrm>
            <a:off x="10607040" y="6510528"/>
            <a:ext cx="1280160" cy="256032"/>
          </a:xfrm>
          <a:prstGeom prst="rect">
            <a:avLst/>
          </a:prstGeom>
          <a:noFill/>
        </p:spPr>
        <p:txBody>
          <a:bodyPr wrap="square" anchor="t"/>
          <a:lstStyle/>
          <a:p>
            <a:pPr algn="r"/>
            <a:r>
              <a:rPr sz="1100" b="0" i="0">
                <a:solidFill>
                  <a:srgbClr val="9AABC4"/>
                </a:solidFill>
                <a:latin typeface="Calibri"/>
              </a:rPr>
              <a:t>10  /  16</a:t>
            </a:r>
          </a:p>
        </p:txBody>
      </p:sp>
      <p:sp>
        <p:nvSpPr>
          <p:cNvPr id="6" name="TextBox 5"/>
          <p:cNvSpPr txBox="1"/>
          <p:nvPr/>
        </p:nvSpPr>
        <p:spPr>
          <a:xfrm>
            <a:off x="457200" y="256032"/>
            <a:ext cx="10972800" cy="256032"/>
          </a:xfrm>
          <a:prstGeom prst="rect">
            <a:avLst/>
          </a:prstGeom>
          <a:noFill/>
        </p:spPr>
        <p:txBody>
          <a:bodyPr wrap="square" anchor="t"/>
          <a:lstStyle/>
          <a:p>
            <a:pPr algn="l"/>
            <a:r>
              <a:rPr sz="1200" b="1" i="0">
                <a:solidFill>
                  <a:srgbClr val="22D3EE"/>
                </a:solidFill>
                <a:latin typeface="Calibri"/>
              </a:rPr>
              <a:t>09  ·  FUTURE NETWORK</a:t>
            </a:r>
          </a:p>
        </p:txBody>
      </p:sp>
      <p:sp>
        <p:nvSpPr>
          <p:cNvPr id="7" name="TextBox 6"/>
          <p:cNvSpPr txBox="1"/>
          <p:nvPr/>
        </p:nvSpPr>
        <p:spPr>
          <a:xfrm>
            <a:off x="457200" y="475488"/>
            <a:ext cx="11247120" cy="640080"/>
          </a:xfrm>
          <a:prstGeom prst="rect">
            <a:avLst/>
          </a:prstGeom>
          <a:noFill/>
        </p:spPr>
        <p:txBody>
          <a:bodyPr wrap="square" anchor="t"/>
          <a:lstStyle/>
          <a:p>
            <a:pPr algn="l"/>
            <a:r>
              <a:rPr sz="3000" b="1" i="0">
                <a:solidFill>
                  <a:srgbClr val="F5F7FA"/>
                </a:solidFill>
                <a:latin typeface="Calibri"/>
              </a:rPr>
              <a:t>A distributed, authorized cybersecurity network</a:t>
            </a:r>
          </a:p>
        </p:txBody>
      </p:sp>
      <p:sp>
        <p:nvSpPr>
          <p:cNvPr id="8" name="Rectangle 7"/>
          <p:cNvSpPr/>
          <p:nvPr/>
        </p:nvSpPr>
        <p:spPr>
          <a:xfrm>
            <a:off x="457200" y="1097280"/>
            <a:ext cx="1280160" cy="4445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25880"/>
            <a:ext cx="11155680" cy="502920"/>
          </a:xfrm>
          <a:prstGeom prst="rect">
            <a:avLst/>
          </a:prstGeom>
          <a:noFill/>
        </p:spPr>
        <p:txBody>
          <a:bodyPr wrap="square" anchor="t"/>
          <a:lstStyle/>
          <a:p>
            <a:pPr algn="l"/>
            <a:r>
              <a:rPr sz="1600" b="0" i="0">
                <a:solidFill>
                  <a:srgbClr val="CBD5E1"/>
                </a:solidFill>
                <a:latin typeface="Calibri"/>
              </a:rPr>
              <a:t>Authorized computers can join the organization. This is not designed for unauthorized access.</a:t>
            </a:r>
          </a:p>
        </p:txBody>
      </p:sp>
      <p:sp>
        <p:nvSpPr>
          <p:cNvPr id="10" name="Rounded Rectangle 9"/>
          <p:cNvSpPr/>
          <p:nvPr/>
        </p:nvSpPr>
        <p:spPr>
          <a:xfrm>
            <a:off x="457200" y="1965960"/>
            <a:ext cx="3657600" cy="14173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965960"/>
            <a:ext cx="64008" cy="14173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112264"/>
            <a:ext cx="3337560" cy="329184"/>
          </a:xfrm>
          <a:prstGeom prst="rect">
            <a:avLst/>
          </a:prstGeom>
          <a:noFill/>
        </p:spPr>
        <p:txBody>
          <a:bodyPr wrap="square" anchor="t"/>
          <a:lstStyle/>
          <a:p>
            <a:pPr algn="l"/>
            <a:r>
              <a:rPr sz="1600" b="1" i="0">
                <a:solidFill>
                  <a:srgbClr val="F5F7FA"/>
                </a:solidFill>
                <a:latin typeface="Calibri"/>
              </a:rPr>
              <a:t>Telemetry</a:t>
            </a:r>
          </a:p>
        </p:txBody>
      </p:sp>
      <p:sp>
        <p:nvSpPr>
          <p:cNvPr id="13" name="TextBox 12"/>
          <p:cNvSpPr txBox="1"/>
          <p:nvPr/>
        </p:nvSpPr>
        <p:spPr>
          <a:xfrm>
            <a:off x="658368" y="2441448"/>
            <a:ext cx="3337560" cy="832104"/>
          </a:xfrm>
          <a:prstGeom prst="rect">
            <a:avLst/>
          </a:prstGeom>
          <a:noFill/>
        </p:spPr>
        <p:txBody>
          <a:bodyPr wrap="square" anchor="t"/>
          <a:lstStyle/>
          <a:p>
            <a:pPr algn="l"/>
            <a:r>
              <a:rPr sz="1300" b="0" i="0">
                <a:solidFill>
                  <a:srgbClr val="CBD5E1"/>
                </a:solidFill>
                <a:latin typeface="Calibri"/>
              </a:rPr>
              <a:t>Security signals from member systems</a:t>
            </a:r>
          </a:p>
        </p:txBody>
      </p:sp>
      <p:sp>
        <p:nvSpPr>
          <p:cNvPr id="14" name="Rounded Rectangle 13"/>
          <p:cNvSpPr/>
          <p:nvPr/>
        </p:nvSpPr>
        <p:spPr>
          <a:xfrm>
            <a:off x="4297680" y="1965960"/>
            <a:ext cx="3657600" cy="14173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965960"/>
            <a:ext cx="64008" cy="14173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98848" y="2112264"/>
            <a:ext cx="3337560" cy="329184"/>
          </a:xfrm>
          <a:prstGeom prst="rect">
            <a:avLst/>
          </a:prstGeom>
          <a:noFill/>
        </p:spPr>
        <p:txBody>
          <a:bodyPr wrap="square" anchor="t"/>
          <a:lstStyle/>
          <a:p>
            <a:pPr algn="l"/>
            <a:r>
              <a:rPr sz="1600" b="1" i="0">
                <a:solidFill>
                  <a:srgbClr val="F5F7FA"/>
                </a:solidFill>
                <a:latin typeface="Calibri"/>
              </a:rPr>
              <a:t>Logs &amp; alerts</a:t>
            </a:r>
          </a:p>
        </p:txBody>
      </p:sp>
      <p:sp>
        <p:nvSpPr>
          <p:cNvPr id="17" name="TextBox 16"/>
          <p:cNvSpPr txBox="1"/>
          <p:nvPr/>
        </p:nvSpPr>
        <p:spPr>
          <a:xfrm>
            <a:off x="4498848" y="2441448"/>
            <a:ext cx="3337560" cy="832104"/>
          </a:xfrm>
          <a:prstGeom prst="rect">
            <a:avLst/>
          </a:prstGeom>
          <a:noFill/>
        </p:spPr>
        <p:txBody>
          <a:bodyPr wrap="square" anchor="t"/>
          <a:lstStyle/>
          <a:p>
            <a:pPr algn="l"/>
            <a:r>
              <a:rPr sz="1300" b="0" i="0">
                <a:solidFill>
                  <a:srgbClr val="CBD5E1"/>
                </a:solidFill>
                <a:latin typeface="Calibri"/>
              </a:rPr>
              <a:t>What each node is seeing</a:t>
            </a:r>
          </a:p>
        </p:txBody>
      </p:sp>
      <p:sp>
        <p:nvSpPr>
          <p:cNvPr id="18" name="Rounded Rectangle 17"/>
          <p:cNvSpPr/>
          <p:nvPr/>
        </p:nvSpPr>
        <p:spPr>
          <a:xfrm>
            <a:off x="8138160" y="1965960"/>
            <a:ext cx="3657600" cy="14173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1965960"/>
            <a:ext cx="64008" cy="14173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9328" y="2112264"/>
            <a:ext cx="3337560" cy="329184"/>
          </a:xfrm>
          <a:prstGeom prst="rect">
            <a:avLst/>
          </a:prstGeom>
          <a:noFill/>
        </p:spPr>
        <p:txBody>
          <a:bodyPr wrap="square" anchor="t"/>
          <a:lstStyle/>
          <a:p>
            <a:pPr algn="l"/>
            <a:r>
              <a:rPr sz="1600" b="1" i="0">
                <a:solidFill>
                  <a:srgbClr val="F5F7FA"/>
                </a:solidFill>
                <a:latin typeface="Calibri"/>
              </a:rPr>
              <a:t>Threat intel</a:t>
            </a:r>
          </a:p>
        </p:txBody>
      </p:sp>
      <p:sp>
        <p:nvSpPr>
          <p:cNvPr id="21" name="TextBox 20"/>
          <p:cNvSpPr txBox="1"/>
          <p:nvPr/>
        </p:nvSpPr>
        <p:spPr>
          <a:xfrm>
            <a:off x="8339328" y="2441448"/>
            <a:ext cx="3337560" cy="832104"/>
          </a:xfrm>
          <a:prstGeom prst="rect">
            <a:avLst/>
          </a:prstGeom>
          <a:noFill/>
        </p:spPr>
        <p:txBody>
          <a:bodyPr wrap="square" anchor="t"/>
          <a:lstStyle/>
          <a:p>
            <a:pPr algn="l"/>
            <a:r>
              <a:rPr sz="1300" b="0" i="0">
                <a:solidFill>
                  <a:srgbClr val="CBD5E1"/>
                </a:solidFill>
                <a:latin typeface="Calibri"/>
              </a:rPr>
              <a:t>Indicators and campaign data</a:t>
            </a:r>
          </a:p>
        </p:txBody>
      </p:sp>
      <p:sp>
        <p:nvSpPr>
          <p:cNvPr id="22" name="Rounded Rectangle 21"/>
          <p:cNvSpPr/>
          <p:nvPr/>
        </p:nvSpPr>
        <p:spPr>
          <a:xfrm>
            <a:off x="457200" y="3520439"/>
            <a:ext cx="3657600" cy="14173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520439"/>
            <a:ext cx="64008" cy="14173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666743"/>
            <a:ext cx="3337560" cy="329184"/>
          </a:xfrm>
          <a:prstGeom prst="rect">
            <a:avLst/>
          </a:prstGeom>
          <a:noFill/>
        </p:spPr>
        <p:txBody>
          <a:bodyPr wrap="square" anchor="t"/>
          <a:lstStyle/>
          <a:p>
            <a:pPr algn="l"/>
            <a:r>
              <a:rPr sz="1600" b="1" i="0">
                <a:solidFill>
                  <a:srgbClr val="F5F7FA"/>
                </a:solidFill>
                <a:latin typeface="Calibri"/>
              </a:rPr>
              <a:t>Detection rules</a:t>
            </a:r>
          </a:p>
        </p:txBody>
      </p:sp>
      <p:sp>
        <p:nvSpPr>
          <p:cNvPr id="25" name="TextBox 24"/>
          <p:cNvSpPr txBox="1"/>
          <p:nvPr/>
        </p:nvSpPr>
        <p:spPr>
          <a:xfrm>
            <a:off x="658368" y="3995927"/>
            <a:ext cx="3337560" cy="832104"/>
          </a:xfrm>
          <a:prstGeom prst="rect">
            <a:avLst/>
          </a:prstGeom>
          <a:noFill/>
        </p:spPr>
        <p:txBody>
          <a:bodyPr wrap="square" anchor="t"/>
          <a:lstStyle/>
          <a:p>
            <a:pPr algn="l"/>
            <a:r>
              <a:rPr sz="1300" b="0" i="0">
                <a:solidFill>
                  <a:srgbClr val="CBD5E1"/>
                </a:solidFill>
                <a:latin typeface="Calibri"/>
              </a:rPr>
              <a:t>Shared defensive knowledge</a:t>
            </a:r>
          </a:p>
        </p:txBody>
      </p:sp>
      <p:sp>
        <p:nvSpPr>
          <p:cNvPr id="26" name="Rounded Rectangle 25"/>
          <p:cNvSpPr/>
          <p:nvPr/>
        </p:nvSpPr>
        <p:spPr>
          <a:xfrm>
            <a:off x="4297680" y="3520439"/>
            <a:ext cx="3657600" cy="14173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97680" y="3520439"/>
            <a:ext cx="64008" cy="14173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98848" y="3666743"/>
            <a:ext cx="3337560" cy="329184"/>
          </a:xfrm>
          <a:prstGeom prst="rect">
            <a:avLst/>
          </a:prstGeom>
          <a:noFill/>
        </p:spPr>
        <p:txBody>
          <a:bodyPr wrap="square" anchor="t"/>
          <a:lstStyle/>
          <a:p>
            <a:pPr algn="l"/>
            <a:r>
              <a:rPr sz="1600" b="1" i="0">
                <a:solidFill>
                  <a:srgbClr val="F5F7FA"/>
                </a:solidFill>
                <a:latin typeface="Calibri"/>
              </a:rPr>
              <a:t>Model updates</a:t>
            </a:r>
          </a:p>
        </p:txBody>
      </p:sp>
      <p:sp>
        <p:nvSpPr>
          <p:cNvPr id="29" name="TextBox 28"/>
          <p:cNvSpPr txBox="1"/>
          <p:nvPr/>
        </p:nvSpPr>
        <p:spPr>
          <a:xfrm>
            <a:off x="4498848" y="3995927"/>
            <a:ext cx="3337560" cy="832104"/>
          </a:xfrm>
          <a:prstGeom prst="rect">
            <a:avLst/>
          </a:prstGeom>
          <a:noFill/>
        </p:spPr>
        <p:txBody>
          <a:bodyPr wrap="square" anchor="t"/>
          <a:lstStyle/>
          <a:p>
            <a:pPr algn="l"/>
            <a:r>
              <a:rPr sz="1300" b="0" i="0">
                <a:solidFill>
                  <a:srgbClr val="CBD5E1"/>
                </a:solidFill>
                <a:latin typeface="Calibri"/>
              </a:rPr>
              <a:t>Safer improvements over time</a:t>
            </a:r>
          </a:p>
        </p:txBody>
      </p:sp>
      <p:sp>
        <p:nvSpPr>
          <p:cNvPr id="30" name="Rounded Rectangle 29"/>
          <p:cNvSpPr/>
          <p:nvPr/>
        </p:nvSpPr>
        <p:spPr>
          <a:xfrm>
            <a:off x="8138160" y="3520439"/>
            <a:ext cx="3657600" cy="14173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38160" y="3520439"/>
            <a:ext cx="64008" cy="14173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39328" y="3666743"/>
            <a:ext cx="3337560" cy="329184"/>
          </a:xfrm>
          <a:prstGeom prst="rect">
            <a:avLst/>
          </a:prstGeom>
          <a:noFill/>
        </p:spPr>
        <p:txBody>
          <a:bodyPr wrap="square" anchor="t"/>
          <a:lstStyle/>
          <a:p>
            <a:pPr algn="l"/>
            <a:r>
              <a:rPr sz="1600" b="1" i="0">
                <a:solidFill>
                  <a:srgbClr val="F5F7FA"/>
                </a:solidFill>
                <a:latin typeface="Calibri"/>
              </a:rPr>
              <a:t>Incidents</a:t>
            </a:r>
          </a:p>
        </p:txBody>
      </p:sp>
      <p:sp>
        <p:nvSpPr>
          <p:cNvPr id="33" name="TextBox 32"/>
          <p:cNvSpPr txBox="1"/>
          <p:nvPr/>
        </p:nvSpPr>
        <p:spPr>
          <a:xfrm>
            <a:off x="8339328" y="3995927"/>
            <a:ext cx="3337560" cy="832104"/>
          </a:xfrm>
          <a:prstGeom prst="rect">
            <a:avLst/>
          </a:prstGeom>
          <a:noFill/>
        </p:spPr>
        <p:txBody>
          <a:bodyPr wrap="square" anchor="t"/>
          <a:lstStyle/>
          <a:p>
            <a:pPr algn="l"/>
            <a:r>
              <a:rPr sz="1300" b="0" i="0">
                <a:solidFill>
                  <a:srgbClr val="CBD5E1"/>
                </a:solidFill>
                <a:latin typeface="Calibri"/>
              </a:rPr>
              <a:t>Lessons that raise the whole hive</a:t>
            </a:r>
          </a:p>
        </p:txBody>
      </p:sp>
      <p:sp>
        <p:nvSpPr>
          <p:cNvPr id="34" name="TextBox 33"/>
          <p:cNvSpPr txBox="1"/>
          <p:nvPr/>
        </p:nvSpPr>
        <p:spPr>
          <a:xfrm>
            <a:off x="457200" y="5212080"/>
            <a:ext cx="11155680" cy="822960"/>
          </a:xfrm>
          <a:prstGeom prst="rect">
            <a:avLst/>
          </a:prstGeom>
          <a:noFill/>
        </p:spPr>
        <p:txBody>
          <a:bodyPr wrap="square" anchor="t"/>
          <a:lstStyle/>
          <a:p>
            <a:pPr algn="l"/>
            <a:r>
              <a:rPr sz="1600" b="1" i="0">
                <a:solidFill>
                  <a:srgbClr val="E8C36A"/>
                </a:solidFill>
                <a:latin typeface="Calibri"/>
              </a:rPr>
              <a:t>Participation is voluntary  ·  authorized  ·  authenticated  ·  encrypted  ·  audited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510528"/>
            <a:ext cx="7315200" cy="256032"/>
          </a:xfrm>
          <a:prstGeom prst="rect">
            <a:avLst/>
          </a:prstGeom>
          <a:noFill/>
        </p:spPr>
        <p:txBody>
          <a:bodyPr wrap="square" anchor="t"/>
          <a:lstStyle/>
          <a:p>
            <a:pPr algn="l"/>
            <a:r>
              <a:rPr sz="1100" b="0" i="0">
                <a:solidFill>
                  <a:srgbClr val="9AABC4"/>
                </a:solidFill>
                <a:latin typeface="Calibri"/>
              </a:rPr>
              <a:t>VRINDHA AI  ·  Intelligent Cybersecurity &amp; SOC System</a:t>
            </a:r>
          </a:p>
        </p:txBody>
      </p:sp>
      <p:sp>
        <p:nvSpPr>
          <p:cNvPr id="5" name="TextBox 4"/>
          <p:cNvSpPr txBox="1"/>
          <p:nvPr/>
        </p:nvSpPr>
        <p:spPr>
          <a:xfrm>
            <a:off x="10607040" y="6510528"/>
            <a:ext cx="1280160" cy="256032"/>
          </a:xfrm>
          <a:prstGeom prst="rect">
            <a:avLst/>
          </a:prstGeom>
          <a:noFill/>
        </p:spPr>
        <p:txBody>
          <a:bodyPr wrap="square" anchor="t"/>
          <a:lstStyle/>
          <a:p>
            <a:pPr algn="r"/>
            <a:r>
              <a:rPr sz="1100" b="0" i="0">
                <a:solidFill>
                  <a:srgbClr val="9AABC4"/>
                </a:solidFill>
                <a:latin typeface="Calibri"/>
              </a:rPr>
              <a:t>11  /  16</a:t>
            </a:r>
          </a:p>
        </p:txBody>
      </p:sp>
      <p:sp>
        <p:nvSpPr>
          <p:cNvPr id="6" name="TextBox 5"/>
          <p:cNvSpPr txBox="1"/>
          <p:nvPr/>
        </p:nvSpPr>
        <p:spPr>
          <a:xfrm>
            <a:off x="457200" y="256032"/>
            <a:ext cx="10972800" cy="256032"/>
          </a:xfrm>
          <a:prstGeom prst="rect">
            <a:avLst/>
          </a:prstGeom>
          <a:noFill/>
        </p:spPr>
        <p:txBody>
          <a:bodyPr wrap="square" anchor="t"/>
          <a:lstStyle/>
          <a:p>
            <a:pPr algn="l"/>
            <a:r>
              <a:rPr sz="1200" b="1" i="0">
                <a:solidFill>
                  <a:srgbClr val="22D3EE"/>
                </a:solidFill>
                <a:latin typeface="Calibri"/>
              </a:rPr>
              <a:t>10  ·  SAFETY PRINCIPLE</a:t>
            </a:r>
          </a:p>
        </p:txBody>
      </p:sp>
      <p:sp>
        <p:nvSpPr>
          <p:cNvPr id="7" name="TextBox 6"/>
          <p:cNvSpPr txBox="1"/>
          <p:nvPr/>
        </p:nvSpPr>
        <p:spPr>
          <a:xfrm>
            <a:off x="457200" y="475488"/>
            <a:ext cx="11247120" cy="640080"/>
          </a:xfrm>
          <a:prstGeom prst="rect">
            <a:avLst/>
          </a:prstGeom>
          <a:noFill/>
        </p:spPr>
        <p:txBody>
          <a:bodyPr wrap="square" anchor="t"/>
          <a:lstStyle/>
          <a:p>
            <a:pPr algn="l"/>
            <a:r>
              <a:rPr sz="3000" b="1" i="0">
                <a:solidFill>
                  <a:srgbClr val="F5F7FA"/>
                </a:solidFill>
                <a:latin typeface="Calibri"/>
              </a:rPr>
              <a:t>Ethics, authorization, and human approval</a:t>
            </a:r>
          </a:p>
        </p:txBody>
      </p:sp>
      <p:sp>
        <p:nvSpPr>
          <p:cNvPr id="8" name="Rectangle 7"/>
          <p:cNvSpPr/>
          <p:nvPr/>
        </p:nvSpPr>
        <p:spPr>
          <a:xfrm>
            <a:off x="457200" y="1097280"/>
            <a:ext cx="1280160" cy="4445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uman_control.png"/>
          <p:cNvPicPr>
            <a:picLocks noChangeAspect="1"/>
          </p:cNvPicPr>
          <p:nvPr/>
        </p:nvPicPr>
        <p:blipFill>
          <a:blip r:embed="rId2"/>
          <a:stretch>
            <a:fillRect/>
          </a:stretch>
        </p:blipFill>
        <p:spPr>
          <a:xfrm>
            <a:off x="7498079" y="1417320"/>
            <a:ext cx="4251960" cy="4709160"/>
          </a:xfrm>
          <a:prstGeom prst="rect">
            <a:avLst/>
          </a:prstGeom>
        </p:spPr>
      </p:pic>
      <p:sp>
        <p:nvSpPr>
          <p:cNvPr id="10" name="TextBox 9"/>
          <p:cNvSpPr txBox="1"/>
          <p:nvPr/>
        </p:nvSpPr>
        <p:spPr>
          <a:xfrm>
            <a:off x="457200" y="1371600"/>
            <a:ext cx="6766560" cy="1051560"/>
          </a:xfrm>
          <a:prstGeom prst="rect">
            <a:avLst/>
          </a:prstGeom>
          <a:noFill/>
        </p:spPr>
        <p:txBody>
          <a:bodyPr wrap="square" anchor="t"/>
          <a:lstStyle/>
          <a:p>
            <a:pPr algn="l"/>
            <a:r>
              <a:rPr sz="1700" b="0" i="0">
                <a:solidFill>
                  <a:srgbClr val="F5F7FA"/>
                </a:solidFill>
                <a:latin typeface="Calibri"/>
              </a:rPr>
              <a:t>Vrindha can detect, analyze, investigate, recommend, and prepare a response. Important actions remain under human authorization.</a:t>
            </a:r>
          </a:p>
        </p:txBody>
      </p:sp>
      <p:sp>
        <p:nvSpPr>
          <p:cNvPr id="11" name="Rounded Rectangle 10"/>
          <p:cNvSpPr/>
          <p:nvPr/>
        </p:nvSpPr>
        <p:spPr>
          <a:xfrm>
            <a:off x="457200" y="2606040"/>
            <a:ext cx="6812280" cy="987552"/>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606040"/>
            <a:ext cx="73152" cy="987552"/>
          </a:xfrm>
          <a:prstGeom prst="rect">
            <a:avLst/>
          </a:prstGeom>
          <a:solidFill>
            <a:srgbClr val="E8C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734056"/>
            <a:ext cx="6355080" cy="292608"/>
          </a:xfrm>
          <a:prstGeom prst="rect">
            <a:avLst/>
          </a:prstGeom>
          <a:noFill/>
        </p:spPr>
        <p:txBody>
          <a:bodyPr wrap="square" anchor="t"/>
          <a:lstStyle/>
          <a:p>
            <a:pPr algn="l"/>
            <a:r>
              <a:rPr sz="1500" b="1" i="0">
                <a:solidFill>
                  <a:srgbClr val="E8C36A"/>
                </a:solidFill>
                <a:latin typeface="Calibri"/>
              </a:rPr>
              <a:t>Defensive by design</a:t>
            </a:r>
          </a:p>
        </p:txBody>
      </p:sp>
      <p:sp>
        <p:nvSpPr>
          <p:cNvPr id="14" name="TextBox 13"/>
          <p:cNvSpPr txBox="1"/>
          <p:nvPr/>
        </p:nvSpPr>
        <p:spPr>
          <a:xfrm>
            <a:off x="731520" y="3044952"/>
            <a:ext cx="6355080" cy="457200"/>
          </a:xfrm>
          <a:prstGeom prst="rect">
            <a:avLst/>
          </a:prstGeom>
          <a:noFill/>
        </p:spPr>
        <p:txBody>
          <a:bodyPr wrap="square" anchor="t"/>
          <a:lstStyle/>
          <a:p>
            <a:pPr algn="l"/>
            <a:r>
              <a:rPr sz="1300" b="0" i="0">
                <a:solidFill>
                  <a:srgbClr val="CBD5E1"/>
                </a:solidFill>
                <a:latin typeface="Calibri"/>
              </a:rPr>
              <a:t>Vrindha is not built to autonomously launch attacks or run unauthorized offensive operations.</a:t>
            </a:r>
          </a:p>
        </p:txBody>
      </p:sp>
      <p:sp>
        <p:nvSpPr>
          <p:cNvPr id="15" name="Rounded Rectangle 14"/>
          <p:cNvSpPr/>
          <p:nvPr/>
        </p:nvSpPr>
        <p:spPr>
          <a:xfrm>
            <a:off x="457200" y="3703320"/>
            <a:ext cx="6812280" cy="987552"/>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703320"/>
            <a:ext cx="73152" cy="987552"/>
          </a:xfrm>
          <a:prstGeom prst="rect">
            <a:avLst/>
          </a:prstGeom>
          <a:solidFill>
            <a:srgbClr val="E8C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831336"/>
            <a:ext cx="6355080" cy="292608"/>
          </a:xfrm>
          <a:prstGeom prst="rect">
            <a:avLst/>
          </a:prstGeom>
          <a:noFill/>
        </p:spPr>
        <p:txBody>
          <a:bodyPr wrap="square" anchor="t"/>
          <a:lstStyle/>
          <a:p>
            <a:pPr algn="l"/>
            <a:r>
              <a:rPr sz="1500" b="1" i="0">
                <a:solidFill>
                  <a:srgbClr val="E8C36A"/>
                </a:solidFill>
                <a:latin typeface="Calibri"/>
              </a:rPr>
              <a:t>High-impact needs a human</a:t>
            </a:r>
          </a:p>
        </p:txBody>
      </p:sp>
      <p:sp>
        <p:nvSpPr>
          <p:cNvPr id="18" name="TextBox 17"/>
          <p:cNvSpPr txBox="1"/>
          <p:nvPr/>
        </p:nvSpPr>
        <p:spPr>
          <a:xfrm>
            <a:off x="731520" y="4142232"/>
            <a:ext cx="6355080" cy="457200"/>
          </a:xfrm>
          <a:prstGeom prst="rect">
            <a:avLst/>
          </a:prstGeom>
          <a:noFill/>
        </p:spPr>
        <p:txBody>
          <a:bodyPr wrap="square" anchor="t"/>
          <a:lstStyle/>
          <a:p>
            <a:pPr algn="l"/>
            <a:r>
              <a:rPr sz="1300" b="0" i="0">
                <a:solidFill>
                  <a:srgbClr val="CBD5E1"/>
                </a:solidFill>
                <a:latin typeface="Calibri"/>
              </a:rPr>
              <a:t>Blocking, containment, and any action with real consequence requires approval.</a:t>
            </a:r>
          </a:p>
        </p:txBody>
      </p:sp>
      <p:sp>
        <p:nvSpPr>
          <p:cNvPr id="19" name="Rounded Rectangle 18"/>
          <p:cNvSpPr/>
          <p:nvPr/>
        </p:nvSpPr>
        <p:spPr>
          <a:xfrm>
            <a:off x="457200" y="4800600"/>
            <a:ext cx="6812280" cy="987552"/>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800600"/>
            <a:ext cx="73152" cy="987552"/>
          </a:xfrm>
          <a:prstGeom prst="rect">
            <a:avLst/>
          </a:prstGeom>
          <a:solidFill>
            <a:srgbClr val="E8C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928616"/>
            <a:ext cx="6355080" cy="292608"/>
          </a:xfrm>
          <a:prstGeom prst="rect">
            <a:avLst/>
          </a:prstGeom>
          <a:noFill/>
        </p:spPr>
        <p:txBody>
          <a:bodyPr wrap="square" anchor="t"/>
          <a:lstStyle/>
          <a:p>
            <a:pPr algn="l"/>
            <a:r>
              <a:rPr sz="1500" b="1" i="0">
                <a:solidFill>
                  <a:srgbClr val="E8C36A"/>
                </a:solidFill>
                <a:latin typeface="Calibri"/>
              </a:rPr>
              <a:t>Intelligence without control is dangerous</a:t>
            </a:r>
          </a:p>
        </p:txBody>
      </p:sp>
      <p:sp>
        <p:nvSpPr>
          <p:cNvPr id="22" name="TextBox 21"/>
          <p:cNvSpPr txBox="1"/>
          <p:nvPr/>
        </p:nvSpPr>
        <p:spPr>
          <a:xfrm>
            <a:off x="731520" y="5239512"/>
            <a:ext cx="6355080" cy="457200"/>
          </a:xfrm>
          <a:prstGeom prst="rect">
            <a:avLst/>
          </a:prstGeom>
          <a:noFill/>
        </p:spPr>
        <p:txBody>
          <a:bodyPr wrap="square" anchor="t"/>
          <a:lstStyle/>
          <a:p>
            <a:pPr algn="l"/>
            <a:r>
              <a:rPr sz="1300" b="0" i="0">
                <a:solidFill>
                  <a:srgbClr val="CBD5E1"/>
                </a:solidFill>
                <a:latin typeface="Calibri"/>
              </a:rPr>
              <a:t>That is why human authorization is a core part of our architecture.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510528"/>
            <a:ext cx="7315200" cy="256032"/>
          </a:xfrm>
          <a:prstGeom prst="rect">
            <a:avLst/>
          </a:prstGeom>
          <a:noFill/>
        </p:spPr>
        <p:txBody>
          <a:bodyPr wrap="square" anchor="t"/>
          <a:lstStyle/>
          <a:p>
            <a:pPr algn="l"/>
            <a:r>
              <a:rPr sz="1100" b="0" i="0">
                <a:solidFill>
                  <a:srgbClr val="9AABC4"/>
                </a:solidFill>
                <a:latin typeface="Calibri"/>
              </a:rPr>
              <a:t>VRINDHA AI  ·  Intelligent Cybersecurity &amp; SOC System</a:t>
            </a:r>
          </a:p>
        </p:txBody>
      </p:sp>
      <p:sp>
        <p:nvSpPr>
          <p:cNvPr id="5" name="TextBox 4"/>
          <p:cNvSpPr txBox="1"/>
          <p:nvPr/>
        </p:nvSpPr>
        <p:spPr>
          <a:xfrm>
            <a:off x="10607040" y="6510528"/>
            <a:ext cx="1280160" cy="256032"/>
          </a:xfrm>
          <a:prstGeom prst="rect">
            <a:avLst/>
          </a:prstGeom>
          <a:noFill/>
        </p:spPr>
        <p:txBody>
          <a:bodyPr wrap="square" anchor="t"/>
          <a:lstStyle/>
          <a:p>
            <a:pPr algn="r"/>
            <a:r>
              <a:rPr sz="1100" b="0" i="0">
                <a:solidFill>
                  <a:srgbClr val="9AABC4"/>
                </a:solidFill>
                <a:latin typeface="Calibri"/>
              </a:rPr>
              <a:t>12  /  16</a:t>
            </a:r>
          </a:p>
        </p:txBody>
      </p:sp>
      <p:sp>
        <p:nvSpPr>
          <p:cNvPr id="6" name="TextBox 5"/>
          <p:cNvSpPr txBox="1"/>
          <p:nvPr/>
        </p:nvSpPr>
        <p:spPr>
          <a:xfrm>
            <a:off x="457200" y="256032"/>
            <a:ext cx="10972800" cy="256032"/>
          </a:xfrm>
          <a:prstGeom prst="rect">
            <a:avLst/>
          </a:prstGeom>
          <a:noFill/>
        </p:spPr>
        <p:txBody>
          <a:bodyPr wrap="square" anchor="t"/>
          <a:lstStyle/>
          <a:p>
            <a:pPr algn="l"/>
            <a:r>
              <a:rPr sz="1200" b="1" i="0">
                <a:solidFill>
                  <a:srgbClr val="22D3EE"/>
                </a:solidFill>
                <a:latin typeface="Calibri"/>
              </a:rPr>
              <a:t>11  ·  DIFFERENTIATION</a:t>
            </a:r>
          </a:p>
        </p:txBody>
      </p:sp>
      <p:sp>
        <p:nvSpPr>
          <p:cNvPr id="7" name="TextBox 6"/>
          <p:cNvSpPr txBox="1"/>
          <p:nvPr/>
        </p:nvSpPr>
        <p:spPr>
          <a:xfrm>
            <a:off x="457200" y="475488"/>
            <a:ext cx="11247120" cy="640080"/>
          </a:xfrm>
          <a:prstGeom prst="rect">
            <a:avLst/>
          </a:prstGeom>
          <a:noFill/>
        </p:spPr>
        <p:txBody>
          <a:bodyPr wrap="square" anchor="t"/>
          <a:lstStyle/>
          <a:p>
            <a:pPr algn="l"/>
            <a:r>
              <a:rPr sz="3000" b="1" i="0">
                <a:solidFill>
                  <a:srgbClr val="F5F7FA"/>
                </a:solidFill>
                <a:latin typeface="Calibri"/>
              </a:rPr>
              <a:t>What makes Vrindha innovative</a:t>
            </a:r>
          </a:p>
        </p:txBody>
      </p:sp>
      <p:sp>
        <p:nvSpPr>
          <p:cNvPr id="8" name="Rectangle 7"/>
          <p:cNvSpPr/>
          <p:nvPr/>
        </p:nvSpPr>
        <p:spPr>
          <a:xfrm>
            <a:off x="457200" y="1097280"/>
            <a:ext cx="1280160" cy="4445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25880"/>
            <a:ext cx="11155680" cy="411480"/>
          </a:xfrm>
          <a:prstGeom prst="rect">
            <a:avLst/>
          </a:prstGeom>
          <a:noFill/>
        </p:spPr>
        <p:txBody>
          <a:bodyPr wrap="square" anchor="t"/>
          <a:lstStyle/>
          <a:p>
            <a:pPr algn="l"/>
            <a:r>
              <a:rPr sz="1700" b="0" i="1">
                <a:solidFill>
                  <a:srgbClr val="E8C36A"/>
                </a:solidFill>
                <a:latin typeface="Calibri"/>
              </a:rPr>
              <a:t>The innovation is not “AI detects attacks.” The innovation is coordination.</a:t>
            </a:r>
          </a:p>
        </p:txBody>
      </p:sp>
      <p:sp>
        <p:nvSpPr>
          <p:cNvPr id="10" name="TextBox 9"/>
          <p:cNvSpPr txBox="1"/>
          <p:nvPr/>
        </p:nvSpPr>
        <p:spPr>
          <a:xfrm>
            <a:off x="502920" y="1874519"/>
            <a:ext cx="5303520" cy="320040"/>
          </a:xfrm>
          <a:prstGeom prst="rect">
            <a:avLst/>
          </a:prstGeom>
          <a:noFill/>
        </p:spPr>
        <p:txBody>
          <a:bodyPr wrap="square" anchor="t"/>
          <a:lstStyle/>
          <a:p>
            <a:pPr algn="l"/>
            <a:r>
              <a:rPr sz="1200" b="1" i="0">
                <a:solidFill>
                  <a:srgbClr val="9AABC4"/>
                </a:solidFill>
                <a:latin typeface="Calibri"/>
              </a:rPr>
              <a:t>COMMON APPROACH</a:t>
            </a:r>
          </a:p>
        </p:txBody>
      </p:sp>
      <p:sp>
        <p:nvSpPr>
          <p:cNvPr id="11" name="TextBox 10"/>
          <p:cNvSpPr txBox="1"/>
          <p:nvPr/>
        </p:nvSpPr>
        <p:spPr>
          <a:xfrm>
            <a:off x="6355080" y="1874519"/>
            <a:ext cx="5303520" cy="320040"/>
          </a:xfrm>
          <a:prstGeom prst="rect">
            <a:avLst/>
          </a:prstGeom>
          <a:noFill/>
        </p:spPr>
        <p:txBody>
          <a:bodyPr wrap="square" anchor="t"/>
          <a:lstStyle/>
          <a:p>
            <a:pPr algn="l"/>
            <a:r>
              <a:rPr sz="1200" b="1" i="0">
                <a:solidFill>
                  <a:srgbClr val="22D3EE"/>
                </a:solidFill>
                <a:latin typeface="Calibri"/>
              </a:rPr>
              <a:t>VRINDHA APPROACH</a:t>
            </a:r>
          </a:p>
        </p:txBody>
      </p:sp>
      <p:sp>
        <p:nvSpPr>
          <p:cNvPr id="12" name="Rounded Rectangle 11"/>
          <p:cNvSpPr/>
          <p:nvPr/>
        </p:nvSpPr>
        <p:spPr>
          <a:xfrm>
            <a:off x="457200" y="2240280"/>
            <a:ext cx="5349240" cy="86868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31720"/>
            <a:ext cx="5029200" cy="274320"/>
          </a:xfrm>
          <a:prstGeom prst="rect">
            <a:avLst/>
          </a:prstGeom>
          <a:noFill/>
        </p:spPr>
        <p:txBody>
          <a:bodyPr wrap="square" anchor="t"/>
          <a:lstStyle/>
          <a:p>
            <a:pPr algn="l"/>
            <a:r>
              <a:rPr sz="1400" b="1" i="0">
                <a:solidFill>
                  <a:srgbClr val="F5F7FA"/>
                </a:solidFill>
                <a:latin typeface="Calibri"/>
              </a:rPr>
              <a:t>Isolated tools</a:t>
            </a:r>
          </a:p>
        </p:txBody>
      </p:sp>
      <p:sp>
        <p:nvSpPr>
          <p:cNvPr id="14" name="TextBox 13"/>
          <p:cNvSpPr txBox="1"/>
          <p:nvPr/>
        </p:nvSpPr>
        <p:spPr>
          <a:xfrm>
            <a:off x="640080" y="2624328"/>
            <a:ext cx="5029200" cy="384048"/>
          </a:xfrm>
          <a:prstGeom prst="rect">
            <a:avLst/>
          </a:prstGeom>
          <a:noFill/>
        </p:spPr>
        <p:txBody>
          <a:bodyPr wrap="square" anchor="t"/>
          <a:lstStyle/>
          <a:p>
            <a:pPr algn="l"/>
            <a:r>
              <a:rPr sz="1300" b="0" i="0">
                <a:solidFill>
                  <a:srgbClr val="9AABC4"/>
                </a:solidFill>
                <a:latin typeface="Calibri"/>
              </a:rPr>
              <a:t>Each product sees only its own slice of the problem.</a:t>
            </a:r>
          </a:p>
        </p:txBody>
      </p:sp>
      <p:sp>
        <p:nvSpPr>
          <p:cNvPr id="15" name="Rounded Rectangle 14"/>
          <p:cNvSpPr/>
          <p:nvPr/>
        </p:nvSpPr>
        <p:spPr>
          <a:xfrm>
            <a:off x="6309360" y="2240280"/>
            <a:ext cx="5394960" cy="86868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60" y="2240280"/>
            <a:ext cx="73152" cy="86868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2331720"/>
            <a:ext cx="4983480" cy="274320"/>
          </a:xfrm>
          <a:prstGeom prst="rect">
            <a:avLst/>
          </a:prstGeom>
          <a:noFill/>
        </p:spPr>
        <p:txBody>
          <a:bodyPr wrap="square" anchor="t"/>
          <a:lstStyle/>
          <a:p>
            <a:pPr algn="l"/>
            <a:r>
              <a:rPr sz="1400" b="1" i="0">
                <a:solidFill>
                  <a:srgbClr val="F5F7FA"/>
                </a:solidFill>
                <a:latin typeface="Calibri"/>
              </a:rPr>
              <a:t>Coordinated intelligence</a:t>
            </a:r>
          </a:p>
        </p:txBody>
      </p:sp>
      <p:sp>
        <p:nvSpPr>
          <p:cNvPr id="18" name="TextBox 17"/>
          <p:cNvSpPr txBox="1"/>
          <p:nvPr/>
        </p:nvSpPr>
        <p:spPr>
          <a:xfrm>
            <a:off x="6537960" y="2624328"/>
            <a:ext cx="4983480" cy="384048"/>
          </a:xfrm>
          <a:prstGeom prst="rect">
            <a:avLst/>
          </a:prstGeom>
          <a:noFill/>
        </p:spPr>
        <p:txBody>
          <a:bodyPr wrap="square" anchor="t"/>
          <a:lstStyle/>
          <a:p>
            <a:pPr algn="l"/>
            <a:r>
              <a:rPr sz="1300" b="0" i="0">
                <a:solidFill>
                  <a:srgbClr val="CBD5E1"/>
                </a:solidFill>
                <a:latin typeface="Calibri"/>
              </a:rPr>
              <a:t>SOC, TI, risk, and response share one loop.</a:t>
            </a:r>
          </a:p>
        </p:txBody>
      </p:sp>
      <p:sp>
        <p:nvSpPr>
          <p:cNvPr id="19" name="Rounded Rectangle 18"/>
          <p:cNvSpPr/>
          <p:nvPr/>
        </p:nvSpPr>
        <p:spPr>
          <a:xfrm>
            <a:off x="457200" y="3200400"/>
            <a:ext cx="5349240" cy="86868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291840"/>
            <a:ext cx="5029200" cy="274320"/>
          </a:xfrm>
          <a:prstGeom prst="rect">
            <a:avLst/>
          </a:prstGeom>
          <a:noFill/>
        </p:spPr>
        <p:txBody>
          <a:bodyPr wrap="square" anchor="t"/>
          <a:lstStyle/>
          <a:p>
            <a:pPr algn="l"/>
            <a:r>
              <a:rPr sz="1400" b="1" i="0">
                <a:solidFill>
                  <a:srgbClr val="F5F7FA"/>
                </a:solidFill>
                <a:latin typeface="Calibri"/>
              </a:rPr>
              <a:t>One-shot detection</a:t>
            </a:r>
          </a:p>
        </p:txBody>
      </p:sp>
      <p:sp>
        <p:nvSpPr>
          <p:cNvPr id="21" name="TextBox 20"/>
          <p:cNvSpPr txBox="1"/>
          <p:nvPr/>
        </p:nvSpPr>
        <p:spPr>
          <a:xfrm>
            <a:off x="640080" y="3584448"/>
            <a:ext cx="5029200" cy="384048"/>
          </a:xfrm>
          <a:prstGeom prst="rect">
            <a:avLst/>
          </a:prstGeom>
          <a:noFill/>
        </p:spPr>
        <p:txBody>
          <a:bodyPr wrap="square" anchor="t"/>
          <a:lstStyle/>
          <a:p>
            <a:pPr algn="l"/>
            <a:r>
              <a:rPr sz="1300" b="0" i="0">
                <a:solidFill>
                  <a:srgbClr val="9AABC4"/>
                </a:solidFill>
                <a:latin typeface="Calibri"/>
              </a:rPr>
              <a:t>A model fires an alert and the story ends there.</a:t>
            </a:r>
          </a:p>
        </p:txBody>
      </p:sp>
      <p:sp>
        <p:nvSpPr>
          <p:cNvPr id="22" name="Rounded Rectangle 21"/>
          <p:cNvSpPr/>
          <p:nvPr/>
        </p:nvSpPr>
        <p:spPr>
          <a:xfrm>
            <a:off x="6309360" y="3200400"/>
            <a:ext cx="5394960" cy="86868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09360" y="3200400"/>
            <a:ext cx="73152" cy="86868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291840"/>
            <a:ext cx="4983480" cy="274320"/>
          </a:xfrm>
          <a:prstGeom prst="rect">
            <a:avLst/>
          </a:prstGeom>
          <a:noFill/>
        </p:spPr>
        <p:txBody>
          <a:bodyPr wrap="square" anchor="t"/>
          <a:lstStyle/>
          <a:p>
            <a:pPr algn="l"/>
            <a:r>
              <a:rPr sz="1400" b="1" i="0">
                <a:solidFill>
                  <a:srgbClr val="F5F7FA"/>
                </a:solidFill>
                <a:latin typeface="Calibri"/>
              </a:rPr>
              <a:t>Detect → Learn cycle</a:t>
            </a:r>
          </a:p>
        </p:txBody>
      </p:sp>
      <p:sp>
        <p:nvSpPr>
          <p:cNvPr id="25" name="TextBox 24"/>
          <p:cNvSpPr txBox="1"/>
          <p:nvPr/>
        </p:nvSpPr>
        <p:spPr>
          <a:xfrm>
            <a:off x="6537960" y="3584448"/>
            <a:ext cx="4983480" cy="384048"/>
          </a:xfrm>
          <a:prstGeom prst="rect">
            <a:avLst/>
          </a:prstGeom>
          <a:noFill/>
        </p:spPr>
        <p:txBody>
          <a:bodyPr wrap="square" anchor="t"/>
          <a:lstStyle/>
          <a:p>
            <a:pPr algn="l"/>
            <a:r>
              <a:rPr sz="1300" b="0" i="0">
                <a:solidFill>
                  <a:srgbClr val="CBD5E1"/>
                </a:solidFill>
                <a:latin typeface="Calibri"/>
              </a:rPr>
              <a:t>Every incident can raise future detection quality.</a:t>
            </a:r>
          </a:p>
        </p:txBody>
      </p:sp>
      <p:sp>
        <p:nvSpPr>
          <p:cNvPr id="26" name="Rounded Rectangle 25"/>
          <p:cNvSpPr/>
          <p:nvPr/>
        </p:nvSpPr>
        <p:spPr>
          <a:xfrm>
            <a:off x="457200" y="4160520"/>
            <a:ext cx="5349240" cy="86868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251960"/>
            <a:ext cx="5029200" cy="274320"/>
          </a:xfrm>
          <a:prstGeom prst="rect">
            <a:avLst/>
          </a:prstGeom>
          <a:noFill/>
        </p:spPr>
        <p:txBody>
          <a:bodyPr wrap="square" anchor="t"/>
          <a:lstStyle/>
          <a:p>
            <a:pPr algn="l"/>
            <a:r>
              <a:rPr sz="1400" b="1" i="0">
                <a:solidFill>
                  <a:srgbClr val="F5F7FA"/>
                </a:solidFill>
                <a:latin typeface="Calibri"/>
              </a:rPr>
              <a:t>Manual stitching</a:t>
            </a:r>
          </a:p>
        </p:txBody>
      </p:sp>
      <p:sp>
        <p:nvSpPr>
          <p:cNvPr id="28" name="TextBox 27"/>
          <p:cNvSpPr txBox="1"/>
          <p:nvPr/>
        </p:nvSpPr>
        <p:spPr>
          <a:xfrm>
            <a:off x="640080" y="4544568"/>
            <a:ext cx="5029200" cy="384048"/>
          </a:xfrm>
          <a:prstGeom prst="rect">
            <a:avLst/>
          </a:prstGeom>
          <a:noFill/>
        </p:spPr>
        <p:txBody>
          <a:bodyPr wrap="square" anchor="t"/>
          <a:lstStyle/>
          <a:p>
            <a:pPr algn="l"/>
            <a:r>
              <a:rPr sz="1300" b="0" i="0">
                <a:solidFill>
                  <a:srgbClr val="9AABC4"/>
                </a:solidFill>
                <a:latin typeface="Calibri"/>
              </a:rPr>
              <a:t>Humans copy context from one screen to another.</a:t>
            </a:r>
          </a:p>
        </p:txBody>
      </p:sp>
      <p:sp>
        <p:nvSpPr>
          <p:cNvPr id="29" name="Rounded Rectangle 28"/>
          <p:cNvSpPr/>
          <p:nvPr/>
        </p:nvSpPr>
        <p:spPr>
          <a:xfrm>
            <a:off x="6309360" y="4160520"/>
            <a:ext cx="5394960" cy="86868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09360" y="4160520"/>
            <a:ext cx="73152" cy="86868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37960" y="4251960"/>
            <a:ext cx="4983480" cy="274320"/>
          </a:xfrm>
          <a:prstGeom prst="rect">
            <a:avLst/>
          </a:prstGeom>
          <a:noFill/>
        </p:spPr>
        <p:txBody>
          <a:bodyPr wrap="square" anchor="t"/>
          <a:lstStyle/>
          <a:p>
            <a:pPr algn="l"/>
            <a:r>
              <a:rPr sz="1400" b="1" i="0">
                <a:solidFill>
                  <a:srgbClr val="F5F7FA"/>
                </a:solidFill>
                <a:latin typeface="Calibri"/>
              </a:rPr>
              <a:t>Specialized roles</a:t>
            </a:r>
          </a:p>
        </p:txBody>
      </p:sp>
      <p:sp>
        <p:nvSpPr>
          <p:cNvPr id="32" name="TextBox 31"/>
          <p:cNvSpPr txBox="1"/>
          <p:nvPr/>
        </p:nvSpPr>
        <p:spPr>
          <a:xfrm>
            <a:off x="6537960" y="4544568"/>
            <a:ext cx="4983480" cy="384048"/>
          </a:xfrm>
          <a:prstGeom prst="rect">
            <a:avLst/>
          </a:prstGeom>
          <a:noFill/>
        </p:spPr>
        <p:txBody>
          <a:bodyPr wrap="square" anchor="t"/>
          <a:lstStyle/>
          <a:p>
            <a:pPr algn="l"/>
            <a:r>
              <a:rPr sz="1300" b="0" i="0">
                <a:solidFill>
                  <a:srgbClr val="CBD5E1"/>
                </a:solidFill>
                <a:latin typeface="Calibri"/>
              </a:rPr>
              <a:t>Each AI does one job well, then reports to the hive.</a:t>
            </a:r>
          </a:p>
        </p:txBody>
      </p:sp>
      <p:sp>
        <p:nvSpPr>
          <p:cNvPr id="33" name="Rounded Rectangle 32"/>
          <p:cNvSpPr/>
          <p:nvPr/>
        </p:nvSpPr>
        <p:spPr>
          <a:xfrm>
            <a:off x="457200" y="5120640"/>
            <a:ext cx="5349240" cy="86868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212080"/>
            <a:ext cx="5029200" cy="274320"/>
          </a:xfrm>
          <a:prstGeom prst="rect">
            <a:avLst/>
          </a:prstGeom>
          <a:noFill/>
        </p:spPr>
        <p:txBody>
          <a:bodyPr wrap="square" anchor="t"/>
          <a:lstStyle/>
          <a:p>
            <a:pPr algn="l"/>
            <a:r>
              <a:rPr sz="1400" b="1" i="0">
                <a:solidFill>
                  <a:srgbClr val="F5F7FA"/>
                </a:solidFill>
                <a:latin typeface="Calibri"/>
              </a:rPr>
              <a:t>No shared memory</a:t>
            </a:r>
          </a:p>
        </p:txBody>
      </p:sp>
      <p:sp>
        <p:nvSpPr>
          <p:cNvPr id="35" name="TextBox 34"/>
          <p:cNvSpPr txBox="1"/>
          <p:nvPr/>
        </p:nvSpPr>
        <p:spPr>
          <a:xfrm>
            <a:off x="640080" y="5504688"/>
            <a:ext cx="5029200" cy="384048"/>
          </a:xfrm>
          <a:prstGeom prst="rect">
            <a:avLst/>
          </a:prstGeom>
          <a:noFill/>
        </p:spPr>
        <p:txBody>
          <a:bodyPr wrap="square" anchor="t"/>
          <a:lstStyle/>
          <a:p>
            <a:pPr algn="l"/>
            <a:r>
              <a:rPr sz="1300" b="0" i="0">
                <a:solidFill>
                  <a:srgbClr val="9AABC4"/>
                </a:solidFill>
                <a:latin typeface="Calibri"/>
              </a:rPr>
              <a:t>Incidents do not reliably improve the next detection.</a:t>
            </a:r>
          </a:p>
        </p:txBody>
      </p:sp>
      <p:sp>
        <p:nvSpPr>
          <p:cNvPr id="36" name="Rounded Rectangle 35"/>
          <p:cNvSpPr/>
          <p:nvPr/>
        </p:nvSpPr>
        <p:spPr>
          <a:xfrm>
            <a:off x="6309360" y="5120640"/>
            <a:ext cx="5394960" cy="86868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09360" y="5120640"/>
            <a:ext cx="73152" cy="86868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37960" y="5212080"/>
            <a:ext cx="4983480" cy="274320"/>
          </a:xfrm>
          <a:prstGeom prst="rect">
            <a:avLst/>
          </a:prstGeom>
          <a:noFill/>
        </p:spPr>
        <p:txBody>
          <a:bodyPr wrap="square" anchor="t"/>
          <a:lstStyle/>
          <a:p>
            <a:pPr algn="l"/>
            <a:r>
              <a:rPr sz="1400" b="1" i="0">
                <a:solidFill>
                  <a:srgbClr val="F5F7FA"/>
                </a:solidFill>
                <a:latin typeface="Calibri"/>
              </a:rPr>
              <a:t>Human remains accountable</a:t>
            </a:r>
          </a:p>
        </p:txBody>
      </p:sp>
      <p:sp>
        <p:nvSpPr>
          <p:cNvPr id="39" name="TextBox 38"/>
          <p:cNvSpPr txBox="1"/>
          <p:nvPr/>
        </p:nvSpPr>
        <p:spPr>
          <a:xfrm>
            <a:off x="6537960" y="5504688"/>
            <a:ext cx="4983480" cy="384048"/>
          </a:xfrm>
          <a:prstGeom prst="rect">
            <a:avLst/>
          </a:prstGeom>
          <a:noFill/>
        </p:spPr>
        <p:txBody>
          <a:bodyPr wrap="square" anchor="t"/>
          <a:lstStyle/>
          <a:p>
            <a:pPr algn="l"/>
            <a:r>
              <a:rPr sz="1300" b="0" i="0">
                <a:solidFill>
                  <a:srgbClr val="CBD5E1"/>
                </a:solidFill>
                <a:latin typeface="Calibri"/>
              </a:rPr>
              <a:t>Recommendation is automated. Authority is not.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510528"/>
            <a:ext cx="7315200" cy="256032"/>
          </a:xfrm>
          <a:prstGeom prst="rect">
            <a:avLst/>
          </a:prstGeom>
          <a:noFill/>
        </p:spPr>
        <p:txBody>
          <a:bodyPr wrap="square" anchor="t"/>
          <a:lstStyle/>
          <a:p>
            <a:pPr algn="l"/>
            <a:r>
              <a:rPr sz="1100" b="0" i="0">
                <a:solidFill>
                  <a:srgbClr val="9AABC4"/>
                </a:solidFill>
                <a:latin typeface="Calibri"/>
              </a:rPr>
              <a:t>VRINDHA AI  ·  Intelligent Cybersecurity &amp; SOC System</a:t>
            </a:r>
          </a:p>
        </p:txBody>
      </p:sp>
      <p:sp>
        <p:nvSpPr>
          <p:cNvPr id="5" name="TextBox 4"/>
          <p:cNvSpPr txBox="1"/>
          <p:nvPr/>
        </p:nvSpPr>
        <p:spPr>
          <a:xfrm>
            <a:off x="10607040" y="6510528"/>
            <a:ext cx="1280160" cy="256032"/>
          </a:xfrm>
          <a:prstGeom prst="rect">
            <a:avLst/>
          </a:prstGeom>
          <a:noFill/>
        </p:spPr>
        <p:txBody>
          <a:bodyPr wrap="square" anchor="t"/>
          <a:lstStyle/>
          <a:p>
            <a:pPr algn="r"/>
            <a:r>
              <a:rPr sz="1100" b="0" i="0">
                <a:solidFill>
                  <a:srgbClr val="9AABC4"/>
                </a:solidFill>
                <a:latin typeface="Calibri"/>
              </a:rPr>
              <a:t>13  /  16</a:t>
            </a:r>
          </a:p>
        </p:txBody>
      </p:sp>
      <p:sp>
        <p:nvSpPr>
          <p:cNvPr id="6" name="TextBox 5"/>
          <p:cNvSpPr txBox="1"/>
          <p:nvPr/>
        </p:nvSpPr>
        <p:spPr>
          <a:xfrm>
            <a:off x="457200" y="256032"/>
            <a:ext cx="10972800" cy="256032"/>
          </a:xfrm>
          <a:prstGeom prst="rect">
            <a:avLst/>
          </a:prstGeom>
          <a:noFill/>
        </p:spPr>
        <p:txBody>
          <a:bodyPr wrap="square" anchor="t"/>
          <a:lstStyle/>
          <a:p>
            <a:pPr algn="l"/>
            <a:r>
              <a:rPr sz="1200" b="1" i="0">
                <a:solidFill>
                  <a:srgbClr val="22D3EE"/>
                </a:solidFill>
                <a:latin typeface="Calibri"/>
              </a:rPr>
              <a:t>12  ·  ROADMAP</a:t>
            </a:r>
          </a:p>
        </p:txBody>
      </p:sp>
      <p:sp>
        <p:nvSpPr>
          <p:cNvPr id="7" name="TextBox 6"/>
          <p:cNvSpPr txBox="1"/>
          <p:nvPr/>
        </p:nvSpPr>
        <p:spPr>
          <a:xfrm>
            <a:off x="457200" y="475488"/>
            <a:ext cx="11247120" cy="640080"/>
          </a:xfrm>
          <a:prstGeom prst="rect">
            <a:avLst/>
          </a:prstGeom>
          <a:noFill/>
        </p:spPr>
        <p:txBody>
          <a:bodyPr wrap="square" anchor="t"/>
          <a:lstStyle/>
          <a:p>
            <a:pPr algn="l"/>
            <a:r>
              <a:rPr sz="3000" b="1" i="0">
                <a:solidFill>
                  <a:srgbClr val="F5F7FA"/>
                </a:solidFill>
                <a:latin typeface="Calibri"/>
              </a:rPr>
              <a:t>Future scope</a:t>
            </a:r>
          </a:p>
        </p:txBody>
      </p:sp>
      <p:sp>
        <p:nvSpPr>
          <p:cNvPr id="8" name="Rectangle 7"/>
          <p:cNvSpPr/>
          <p:nvPr/>
        </p:nvSpPr>
        <p:spPr>
          <a:xfrm>
            <a:off x="457200" y="1097280"/>
            <a:ext cx="1280160" cy="4445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 y="1417320"/>
            <a:ext cx="3657600" cy="21031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17320"/>
            <a:ext cx="64008" cy="21031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563624"/>
            <a:ext cx="3337560" cy="219456"/>
          </a:xfrm>
          <a:prstGeom prst="rect">
            <a:avLst/>
          </a:prstGeom>
          <a:noFill/>
        </p:spPr>
        <p:txBody>
          <a:bodyPr wrap="square" anchor="t"/>
          <a:lstStyle/>
          <a:p>
            <a:pPr algn="l"/>
            <a:r>
              <a:rPr sz="1100" b="1" i="0">
                <a:solidFill>
                  <a:srgbClr val="22D3EE"/>
                </a:solidFill>
                <a:latin typeface="Calibri"/>
              </a:rPr>
              <a:t>01</a:t>
            </a:r>
          </a:p>
        </p:txBody>
      </p:sp>
      <p:sp>
        <p:nvSpPr>
          <p:cNvPr id="12" name="TextBox 11"/>
          <p:cNvSpPr txBox="1"/>
          <p:nvPr/>
        </p:nvSpPr>
        <p:spPr>
          <a:xfrm>
            <a:off x="658368" y="1801368"/>
            <a:ext cx="3337560" cy="329184"/>
          </a:xfrm>
          <a:prstGeom prst="rect">
            <a:avLst/>
          </a:prstGeom>
          <a:noFill/>
        </p:spPr>
        <p:txBody>
          <a:bodyPr wrap="square" anchor="t"/>
          <a:lstStyle/>
          <a:p>
            <a:pPr algn="l"/>
            <a:r>
              <a:rPr sz="1600" b="1" i="0">
                <a:solidFill>
                  <a:srgbClr val="F5F7FA"/>
                </a:solidFill>
                <a:latin typeface="Calibri"/>
              </a:rPr>
              <a:t>Richer hive</a:t>
            </a:r>
          </a:p>
        </p:txBody>
      </p:sp>
      <p:sp>
        <p:nvSpPr>
          <p:cNvPr id="13" name="TextBox 12"/>
          <p:cNvSpPr txBox="1"/>
          <p:nvPr/>
        </p:nvSpPr>
        <p:spPr>
          <a:xfrm>
            <a:off x="658368" y="2130552"/>
            <a:ext cx="3337560" cy="1280160"/>
          </a:xfrm>
          <a:prstGeom prst="rect">
            <a:avLst/>
          </a:prstGeom>
          <a:noFill/>
        </p:spPr>
        <p:txBody>
          <a:bodyPr wrap="square" anchor="t"/>
          <a:lstStyle/>
          <a:p>
            <a:pPr algn="l"/>
            <a:r>
              <a:rPr sz="1300" b="0" i="0">
                <a:solidFill>
                  <a:srgbClr val="CBD5E1"/>
                </a:solidFill>
                <a:latin typeface="Calibri"/>
              </a:rPr>
              <a:t>More specialized modules joining the same authorized event bus.</a:t>
            </a:r>
          </a:p>
        </p:txBody>
      </p:sp>
      <p:sp>
        <p:nvSpPr>
          <p:cNvPr id="14" name="Rounded Rectangle 13"/>
          <p:cNvSpPr/>
          <p:nvPr/>
        </p:nvSpPr>
        <p:spPr>
          <a:xfrm>
            <a:off x="4297680" y="1417320"/>
            <a:ext cx="3657600" cy="21031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417320"/>
            <a:ext cx="64008" cy="21031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98848" y="1563624"/>
            <a:ext cx="3337560" cy="219456"/>
          </a:xfrm>
          <a:prstGeom prst="rect">
            <a:avLst/>
          </a:prstGeom>
          <a:noFill/>
        </p:spPr>
        <p:txBody>
          <a:bodyPr wrap="square" anchor="t"/>
          <a:lstStyle/>
          <a:p>
            <a:pPr algn="l"/>
            <a:r>
              <a:rPr sz="1100" b="1" i="0">
                <a:solidFill>
                  <a:srgbClr val="22D3EE"/>
                </a:solidFill>
                <a:latin typeface="Calibri"/>
              </a:rPr>
              <a:t>02</a:t>
            </a:r>
          </a:p>
        </p:txBody>
      </p:sp>
      <p:sp>
        <p:nvSpPr>
          <p:cNvPr id="17" name="TextBox 16"/>
          <p:cNvSpPr txBox="1"/>
          <p:nvPr/>
        </p:nvSpPr>
        <p:spPr>
          <a:xfrm>
            <a:off x="4498848" y="1801368"/>
            <a:ext cx="3337560" cy="329184"/>
          </a:xfrm>
          <a:prstGeom prst="rect">
            <a:avLst/>
          </a:prstGeom>
          <a:noFill/>
        </p:spPr>
        <p:txBody>
          <a:bodyPr wrap="square" anchor="t"/>
          <a:lstStyle/>
          <a:p>
            <a:pPr algn="l"/>
            <a:r>
              <a:rPr sz="1600" b="1" i="0">
                <a:solidFill>
                  <a:srgbClr val="F5F7FA"/>
                </a:solidFill>
                <a:latin typeface="Calibri"/>
              </a:rPr>
              <a:t>Better models</a:t>
            </a:r>
          </a:p>
        </p:txBody>
      </p:sp>
      <p:sp>
        <p:nvSpPr>
          <p:cNvPr id="18" name="TextBox 17"/>
          <p:cNvSpPr txBox="1"/>
          <p:nvPr/>
        </p:nvSpPr>
        <p:spPr>
          <a:xfrm>
            <a:off x="4498848" y="2130552"/>
            <a:ext cx="3337560" cy="1280160"/>
          </a:xfrm>
          <a:prstGeom prst="rect">
            <a:avLst/>
          </a:prstGeom>
          <a:noFill/>
        </p:spPr>
        <p:txBody>
          <a:bodyPr wrap="square" anchor="t"/>
          <a:lstStyle/>
          <a:p>
            <a:pPr algn="l"/>
            <a:r>
              <a:rPr sz="1300" b="0" i="0">
                <a:solidFill>
                  <a:srgbClr val="CBD5E1"/>
                </a:solidFill>
                <a:latin typeface="Calibri"/>
              </a:rPr>
              <a:t>Data Science AI continuously improving anomaly and risk scoring from real incidents.</a:t>
            </a:r>
          </a:p>
        </p:txBody>
      </p:sp>
      <p:sp>
        <p:nvSpPr>
          <p:cNvPr id="19" name="Rounded Rectangle 18"/>
          <p:cNvSpPr/>
          <p:nvPr/>
        </p:nvSpPr>
        <p:spPr>
          <a:xfrm>
            <a:off x="8138160" y="1417320"/>
            <a:ext cx="3657600" cy="21031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1417320"/>
            <a:ext cx="64008" cy="21031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8" y="1563624"/>
            <a:ext cx="3337560" cy="219456"/>
          </a:xfrm>
          <a:prstGeom prst="rect">
            <a:avLst/>
          </a:prstGeom>
          <a:noFill/>
        </p:spPr>
        <p:txBody>
          <a:bodyPr wrap="square" anchor="t"/>
          <a:lstStyle/>
          <a:p>
            <a:pPr algn="l"/>
            <a:r>
              <a:rPr sz="1100" b="1" i="0">
                <a:solidFill>
                  <a:srgbClr val="22D3EE"/>
                </a:solidFill>
                <a:latin typeface="Calibri"/>
              </a:rPr>
              <a:t>03</a:t>
            </a:r>
          </a:p>
        </p:txBody>
      </p:sp>
      <p:sp>
        <p:nvSpPr>
          <p:cNvPr id="22" name="TextBox 21"/>
          <p:cNvSpPr txBox="1"/>
          <p:nvPr/>
        </p:nvSpPr>
        <p:spPr>
          <a:xfrm>
            <a:off x="8339328" y="1801368"/>
            <a:ext cx="3337560" cy="329184"/>
          </a:xfrm>
          <a:prstGeom prst="rect">
            <a:avLst/>
          </a:prstGeom>
          <a:noFill/>
        </p:spPr>
        <p:txBody>
          <a:bodyPr wrap="square" anchor="t"/>
          <a:lstStyle/>
          <a:p>
            <a:pPr algn="l"/>
            <a:r>
              <a:rPr sz="1600" b="1" i="0">
                <a:solidFill>
                  <a:srgbClr val="F5F7FA"/>
                </a:solidFill>
                <a:latin typeface="Calibri"/>
              </a:rPr>
              <a:t>Authorized nodes</a:t>
            </a:r>
          </a:p>
        </p:txBody>
      </p:sp>
      <p:sp>
        <p:nvSpPr>
          <p:cNvPr id="23" name="TextBox 22"/>
          <p:cNvSpPr txBox="1"/>
          <p:nvPr/>
        </p:nvSpPr>
        <p:spPr>
          <a:xfrm>
            <a:off x="8339328" y="2130552"/>
            <a:ext cx="3337560" cy="1280160"/>
          </a:xfrm>
          <a:prstGeom prst="rect">
            <a:avLst/>
          </a:prstGeom>
          <a:noFill/>
        </p:spPr>
        <p:txBody>
          <a:bodyPr wrap="square" anchor="t"/>
          <a:lstStyle/>
          <a:p>
            <a:pPr algn="l"/>
            <a:r>
              <a:rPr sz="1300" b="0" i="0">
                <a:solidFill>
                  <a:srgbClr val="CBD5E1"/>
                </a:solidFill>
                <a:latin typeface="Calibri"/>
              </a:rPr>
              <a:t>A growing network of voluntary, authenticated member systems.</a:t>
            </a:r>
          </a:p>
        </p:txBody>
      </p:sp>
      <p:sp>
        <p:nvSpPr>
          <p:cNvPr id="24" name="Rounded Rectangle 23"/>
          <p:cNvSpPr/>
          <p:nvPr/>
        </p:nvSpPr>
        <p:spPr>
          <a:xfrm>
            <a:off x="457200" y="3703320"/>
            <a:ext cx="3657600" cy="21031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703320"/>
            <a:ext cx="64008" cy="21031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3849624"/>
            <a:ext cx="3337560" cy="219456"/>
          </a:xfrm>
          <a:prstGeom prst="rect">
            <a:avLst/>
          </a:prstGeom>
          <a:noFill/>
        </p:spPr>
        <p:txBody>
          <a:bodyPr wrap="square" anchor="t"/>
          <a:lstStyle/>
          <a:p>
            <a:pPr algn="l"/>
            <a:r>
              <a:rPr sz="1100" b="1" i="0">
                <a:solidFill>
                  <a:srgbClr val="22D3EE"/>
                </a:solidFill>
                <a:latin typeface="Calibri"/>
              </a:rPr>
              <a:t>04</a:t>
            </a:r>
          </a:p>
        </p:txBody>
      </p:sp>
      <p:sp>
        <p:nvSpPr>
          <p:cNvPr id="27" name="TextBox 26"/>
          <p:cNvSpPr txBox="1"/>
          <p:nvPr/>
        </p:nvSpPr>
        <p:spPr>
          <a:xfrm>
            <a:off x="658368" y="4087368"/>
            <a:ext cx="3337560" cy="329184"/>
          </a:xfrm>
          <a:prstGeom prst="rect">
            <a:avLst/>
          </a:prstGeom>
          <a:noFill/>
        </p:spPr>
        <p:txBody>
          <a:bodyPr wrap="square" anchor="t"/>
          <a:lstStyle/>
          <a:p>
            <a:pPr algn="l"/>
            <a:r>
              <a:rPr sz="1600" b="1" i="0">
                <a:solidFill>
                  <a:srgbClr val="F5F7FA"/>
                </a:solidFill>
                <a:latin typeface="Calibri"/>
              </a:rPr>
              <a:t>Shared defense</a:t>
            </a:r>
          </a:p>
        </p:txBody>
      </p:sp>
      <p:sp>
        <p:nvSpPr>
          <p:cNvPr id="28" name="TextBox 27"/>
          <p:cNvSpPr txBox="1"/>
          <p:nvPr/>
        </p:nvSpPr>
        <p:spPr>
          <a:xfrm>
            <a:off x="658368" y="4416552"/>
            <a:ext cx="3337560" cy="1280160"/>
          </a:xfrm>
          <a:prstGeom prst="rect">
            <a:avLst/>
          </a:prstGeom>
          <a:noFill/>
        </p:spPr>
        <p:txBody>
          <a:bodyPr wrap="square" anchor="t"/>
          <a:lstStyle/>
          <a:p>
            <a:pPr algn="l"/>
            <a:r>
              <a:rPr sz="1300" b="0" i="0">
                <a:solidFill>
                  <a:srgbClr val="CBD5E1"/>
                </a:solidFill>
                <a:latin typeface="Calibri"/>
              </a:rPr>
              <a:t>Detection rules and indicators flowing back to members safely.</a:t>
            </a:r>
          </a:p>
        </p:txBody>
      </p:sp>
      <p:sp>
        <p:nvSpPr>
          <p:cNvPr id="29" name="Rounded Rectangle 28"/>
          <p:cNvSpPr/>
          <p:nvPr/>
        </p:nvSpPr>
        <p:spPr>
          <a:xfrm>
            <a:off x="4297680" y="3703320"/>
            <a:ext cx="3657600" cy="21031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97680" y="3703320"/>
            <a:ext cx="64008" cy="21031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98848" y="3849624"/>
            <a:ext cx="3337560" cy="219456"/>
          </a:xfrm>
          <a:prstGeom prst="rect">
            <a:avLst/>
          </a:prstGeom>
          <a:noFill/>
        </p:spPr>
        <p:txBody>
          <a:bodyPr wrap="square" anchor="t"/>
          <a:lstStyle/>
          <a:p>
            <a:pPr algn="l"/>
            <a:r>
              <a:rPr sz="1100" b="1" i="0">
                <a:solidFill>
                  <a:srgbClr val="22D3EE"/>
                </a:solidFill>
                <a:latin typeface="Calibri"/>
              </a:rPr>
              <a:t>05</a:t>
            </a:r>
          </a:p>
        </p:txBody>
      </p:sp>
      <p:sp>
        <p:nvSpPr>
          <p:cNvPr id="32" name="TextBox 31"/>
          <p:cNvSpPr txBox="1"/>
          <p:nvPr/>
        </p:nvSpPr>
        <p:spPr>
          <a:xfrm>
            <a:off x="4498848" y="4087368"/>
            <a:ext cx="3337560" cy="329184"/>
          </a:xfrm>
          <a:prstGeom prst="rect">
            <a:avLst/>
          </a:prstGeom>
          <a:noFill/>
        </p:spPr>
        <p:txBody>
          <a:bodyPr wrap="square" anchor="t"/>
          <a:lstStyle/>
          <a:p>
            <a:pPr algn="l"/>
            <a:r>
              <a:rPr sz="1600" b="1" i="0">
                <a:solidFill>
                  <a:srgbClr val="F5F7FA"/>
                </a:solidFill>
                <a:latin typeface="Calibri"/>
              </a:rPr>
              <a:t>Situation reports</a:t>
            </a:r>
          </a:p>
        </p:txBody>
      </p:sp>
      <p:sp>
        <p:nvSpPr>
          <p:cNvPr id="33" name="TextBox 32"/>
          <p:cNvSpPr txBox="1"/>
          <p:nvPr/>
        </p:nvSpPr>
        <p:spPr>
          <a:xfrm>
            <a:off x="4498848" y="4416552"/>
            <a:ext cx="3337560" cy="1280160"/>
          </a:xfrm>
          <a:prstGeom prst="rect">
            <a:avLst/>
          </a:prstGeom>
          <a:noFill/>
        </p:spPr>
        <p:txBody>
          <a:bodyPr wrap="square" anchor="t"/>
          <a:lstStyle/>
          <a:p>
            <a:pPr algn="l"/>
            <a:r>
              <a:rPr sz="1300" b="0" i="0">
                <a:solidFill>
                  <a:srgbClr val="CBD5E1"/>
                </a:solidFill>
                <a:latin typeface="Calibri"/>
              </a:rPr>
              <a:t>Clear briefings for administrators, not only raw alerts.</a:t>
            </a:r>
          </a:p>
        </p:txBody>
      </p:sp>
      <p:sp>
        <p:nvSpPr>
          <p:cNvPr id="34" name="Rounded Rectangle 33"/>
          <p:cNvSpPr/>
          <p:nvPr/>
        </p:nvSpPr>
        <p:spPr>
          <a:xfrm>
            <a:off x="8138160" y="3703320"/>
            <a:ext cx="3657600" cy="21031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38160" y="3703320"/>
            <a:ext cx="64008" cy="21031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39328" y="3849624"/>
            <a:ext cx="3337560" cy="219456"/>
          </a:xfrm>
          <a:prstGeom prst="rect">
            <a:avLst/>
          </a:prstGeom>
          <a:noFill/>
        </p:spPr>
        <p:txBody>
          <a:bodyPr wrap="square" anchor="t"/>
          <a:lstStyle/>
          <a:p>
            <a:pPr algn="l"/>
            <a:r>
              <a:rPr sz="1100" b="1" i="0">
                <a:solidFill>
                  <a:srgbClr val="22D3EE"/>
                </a:solidFill>
                <a:latin typeface="Calibri"/>
              </a:rPr>
              <a:t>06</a:t>
            </a:r>
          </a:p>
        </p:txBody>
      </p:sp>
      <p:sp>
        <p:nvSpPr>
          <p:cNvPr id="37" name="TextBox 36"/>
          <p:cNvSpPr txBox="1"/>
          <p:nvPr/>
        </p:nvSpPr>
        <p:spPr>
          <a:xfrm>
            <a:off x="8339328" y="4087368"/>
            <a:ext cx="3337560" cy="329184"/>
          </a:xfrm>
          <a:prstGeom prst="rect">
            <a:avLst/>
          </a:prstGeom>
          <a:noFill/>
        </p:spPr>
        <p:txBody>
          <a:bodyPr wrap="square" anchor="t"/>
          <a:lstStyle/>
          <a:p>
            <a:pPr algn="l"/>
            <a:r>
              <a:rPr sz="1600" b="1" i="0">
                <a:solidFill>
                  <a:srgbClr val="F5F7FA"/>
                </a:solidFill>
                <a:latin typeface="Calibri"/>
              </a:rPr>
              <a:t>Stronger audit</a:t>
            </a:r>
          </a:p>
        </p:txBody>
      </p:sp>
      <p:sp>
        <p:nvSpPr>
          <p:cNvPr id="38" name="TextBox 37"/>
          <p:cNvSpPr txBox="1"/>
          <p:nvPr/>
        </p:nvSpPr>
        <p:spPr>
          <a:xfrm>
            <a:off x="8339328" y="4416552"/>
            <a:ext cx="3337560" cy="1280160"/>
          </a:xfrm>
          <a:prstGeom prst="rect">
            <a:avLst/>
          </a:prstGeom>
          <a:noFill/>
        </p:spPr>
        <p:txBody>
          <a:bodyPr wrap="square" anchor="t"/>
          <a:lstStyle/>
          <a:p>
            <a:pPr algn="l"/>
            <a:r>
              <a:rPr sz="1300" b="0" i="0">
                <a:solidFill>
                  <a:srgbClr val="CBD5E1"/>
                </a:solidFill>
                <a:latin typeface="Calibri"/>
              </a:rPr>
              <a:t>Every recommendation and approval remains explainable and logged.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510528"/>
            <a:ext cx="7315200" cy="256032"/>
          </a:xfrm>
          <a:prstGeom prst="rect">
            <a:avLst/>
          </a:prstGeom>
          <a:noFill/>
        </p:spPr>
        <p:txBody>
          <a:bodyPr wrap="square" anchor="t"/>
          <a:lstStyle/>
          <a:p>
            <a:pPr algn="l"/>
            <a:r>
              <a:rPr sz="1100" b="0" i="0">
                <a:solidFill>
                  <a:srgbClr val="9AABC4"/>
                </a:solidFill>
                <a:latin typeface="Calibri"/>
              </a:rPr>
              <a:t>VRINDHA AI  ·  Intelligent Cybersecurity &amp; SOC System</a:t>
            </a:r>
          </a:p>
        </p:txBody>
      </p:sp>
      <p:sp>
        <p:nvSpPr>
          <p:cNvPr id="5" name="TextBox 4"/>
          <p:cNvSpPr txBox="1"/>
          <p:nvPr/>
        </p:nvSpPr>
        <p:spPr>
          <a:xfrm>
            <a:off x="10607040" y="6510528"/>
            <a:ext cx="1280160" cy="256032"/>
          </a:xfrm>
          <a:prstGeom prst="rect">
            <a:avLst/>
          </a:prstGeom>
          <a:noFill/>
        </p:spPr>
        <p:txBody>
          <a:bodyPr wrap="square" anchor="t"/>
          <a:lstStyle/>
          <a:p>
            <a:pPr algn="r"/>
            <a:r>
              <a:rPr sz="1100" b="0" i="0">
                <a:solidFill>
                  <a:srgbClr val="9AABC4"/>
                </a:solidFill>
                <a:latin typeface="Calibri"/>
              </a:rPr>
              <a:t>14  /  16</a:t>
            </a:r>
          </a:p>
        </p:txBody>
      </p:sp>
      <p:sp>
        <p:nvSpPr>
          <p:cNvPr id="6" name="TextBox 5"/>
          <p:cNvSpPr txBox="1"/>
          <p:nvPr/>
        </p:nvSpPr>
        <p:spPr>
          <a:xfrm>
            <a:off x="457200" y="256032"/>
            <a:ext cx="10972800" cy="256032"/>
          </a:xfrm>
          <a:prstGeom prst="rect">
            <a:avLst/>
          </a:prstGeom>
          <a:noFill/>
        </p:spPr>
        <p:txBody>
          <a:bodyPr wrap="square" anchor="t"/>
          <a:lstStyle/>
          <a:p>
            <a:pPr algn="l"/>
            <a:r>
              <a:rPr sz="1200" b="1" i="0">
                <a:solidFill>
                  <a:srgbClr val="22D3EE"/>
                </a:solidFill>
                <a:latin typeface="Calibri"/>
              </a:rPr>
              <a:t>13  ·  WHY THIS MATTERS</a:t>
            </a:r>
          </a:p>
        </p:txBody>
      </p:sp>
      <p:sp>
        <p:nvSpPr>
          <p:cNvPr id="7" name="TextBox 6"/>
          <p:cNvSpPr txBox="1"/>
          <p:nvPr/>
        </p:nvSpPr>
        <p:spPr>
          <a:xfrm>
            <a:off x="457200" y="475488"/>
            <a:ext cx="11247120" cy="640080"/>
          </a:xfrm>
          <a:prstGeom prst="rect">
            <a:avLst/>
          </a:prstGeom>
          <a:noFill/>
        </p:spPr>
        <p:txBody>
          <a:bodyPr wrap="square" anchor="t"/>
          <a:lstStyle/>
          <a:p>
            <a:pPr algn="l"/>
            <a:r>
              <a:rPr sz="3000" b="1" i="0">
                <a:solidFill>
                  <a:srgbClr val="F5F7FA"/>
                </a:solidFill>
                <a:latin typeface="Calibri"/>
              </a:rPr>
              <a:t>Real-world impact</a:t>
            </a:r>
          </a:p>
        </p:txBody>
      </p:sp>
      <p:sp>
        <p:nvSpPr>
          <p:cNvPr id="8" name="Rectangle 7"/>
          <p:cNvSpPr/>
          <p:nvPr/>
        </p:nvSpPr>
        <p:spPr>
          <a:xfrm>
            <a:off x="457200" y="1097280"/>
            <a:ext cx="1280160" cy="4445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 y="1417320"/>
            <a:ext cx="3657600" cy="21031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17320"/>
            <a:ext cx="64008" cy="210312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563624"/>
            <a:ext cx="3337560" cy="329184"/>
          </a:xfrm>
          <a:prstGeom prst="rect">
            <a:avLst/>
          </a:prstGeom>
          <a:noFill/>
        </p:spPr>
        <p:txBody>
          <a:bodyPr wrap="square" anchor="t"/>
          <a:lstStyle/>
          <a:p>
            <a:pPr algn="l"/>
            <a:r>
              <a:rPr sz="1600" b="1" i="0">
                <a:solidFill>
                  <a:srgbClr val="F5F7FA"/>
                </a:solidFill>
                <a:latin typeface="Calibri"/>
              </a:rPr>
              <a:t>Faster understanding</a:t>
            </a:r>
          </a:p>
        </p:txBody>
      </p:sp>
      <p:sp>
        <p:nvSpPr>
          <p:cNvPr id="12" name="TextBox 11"/>
          <p:cNvSpPr txBox="1"/>
          <p:nvPr/>
        </p:nvSpPr>
        <p:spPr>
          <a:xfrm>
            <a:off x="658368" y="1892808"/>
            <a:ext cx="3337560" cy="1517904"/>
          </a:xfrm>
          <a:prstGeom prst="rect">
            <a:avLst/>
          </a:prstGeom>
          <a:noFill/>
        </p:spPr>
        <p:txBody>
          <a:bodyPr wrap="square" anchor="t"/>
          <a:lstStyle/>
          <a:p>
            <a:pPr algn="l"/>
            <a:r>
              <a:rPr sz="1300" b="0" i="0">
                <a:solidFill>
                  <a:srgbClr val="CBD5E1"/>
                </a:solidFill>
                <a:latin typeface="Calibri"/>
              </a:rPr>
              <a:t>Analysts spend less time stitching tools and more time deciding.</a:t>
            </a:r>
          </a:p>
        </p:txBody>
      </p:sp>
      <p:sp>
        <p:nvSpPr>
          <p:cNvPr id="13" name="Rounded Rectangle 12"/>
          <p:cNvSpPr/>
          <p:nvPr/>
        </p:nvSpPr>
        <p:spPr>
          <a:xfrm>
            <a:off x="4297680" y="1417320"/>
            <a:ext cx="3657600" cy="21031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64008" cy="210312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1563624"/>
            <a:ext cx="3337560" cy="329184"/>
          </a:xfrm>
          <a:prstGeom prst="rect">
            <a:avLst/>
          </a:prstGeom>
          <a:noFill/>
        </p:spPr>
        <p:txBody>
          <a:bodyPr wrap="square" anchor="t"/>
          <a:lstStyle/>
          <a:p>
            <a:pPr algn="l"/>
            <a:r>
              <a:rPr sz="1600" b="1" i="0">
                <a:solidFill>
                  <a:srgbClr val="F5F7FA"/>
                </a:solidFill>
                <a:latin typeface="Calibri"/>
              </a:rPr>
              <a:t>Fewer missed connections</a:t>
            </a:r>
          </a:p>
        </p:txBody>
      </p:sp>
      <p:sp>
        <p:nvSpPr>
          <p:cNvPr id="16" name="TextBox 15"/>
          <p:cNvSpPr txBox="1"/>
          <p:nvPr/>
        </p:nvSpPr>
        <p:spPr>
          <a:xfrm>
            <a:off x="4498848" y="1892808"/>
            <a:ext cx="3337560" cy="1517904"/>
          </a:xfrm>
          <a:prstGeom prst="rect">
            <a:avLst/>
          </a:prstGeom>
          <a:noFill/>
        </p:spPr>
        <p:txBody>
          <a:bodyPr wrap="square" anchor="t"/>
          <a:lstStyle/>
          <a:p>
            <a:pPr algn="l"/>
            <a:r>
              <a:rPr sz="1300" b="0" i="0">
                <a:solidFill>
                  <a:srgbClr val="CBD5E1"/>
                </a:solidFill>
                <a:latin typeface="Calibri"/>
              </a:rPr>
              <a:t>An alert is checked against known threats before it is dismissed.</a:t>
            </a:r>
          </a:p>
        </p:txBody>
      </p:sp>
      <p:sp>
        <p:nvSpPr>
          <p:cNvPr id="17" name="Rounded Rectangle 16"/>
          <p:cNvSpPr/>
          <p:nvPr/>
        </p:nvSpPr>
        <p:spPr>
          <a:xfrm>
            <a:off x="8138160" y="1417320"/>
            <a:ext cx="3657600" cy="21031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417320"/>
            <a:ext cx="64008" cy="210312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9328" y="1563624"/>
            <a:ext cx="3337560" cy="329184"/>
          </a:xfrm>
          <a:prstGeom prst="rect">
            <a:avLst/>
          </a:prstGeom>
          <a:noFill/>
        </p:spPr>
        <p:txBody>
          <a:bodyPr wrap="square" anchor="t"/>
          <a:lstStyle/>
          <a:p>
            <a:pPr algn="l"/>
            <a:r>
              <a:rPr sz="1600" b="1" i="0">
                <a:solidFill>
                  <a:srgbClr val="F5F7FA"/>
                </a:solidFill>
                <a:latin typeface="Calibri"/>
              </a:rPr>
              <a:t>Safer response</a:t>
            </a:r>
          </a:p>
        </p:txBody>
      </p:sp>
      <p:sp>
        <p:nvSpPr>
          <p:cNvPr id="20" name="TextBox 19"/>
          <p:cNvSpPr txBox="1"/>
          <p:nvPr/>
        </p:nvSpPr>
        <p:spPr>
          <a:xfrm>
            <a:off x="8339328" y="1892808"/>
            <a:ext cx="3337560" cy="1517904"/>
          </a:xfrm>
          <a:prstGeom prst="rect">
            <a:avLst/>
          </a:prstGeom>
          <a:noFill/>
        </p:spPr>
        <p:txBody>
          <a:bodyPr wrap="square" anchor="t"/>
          <a:lstStyle/>
          <a:p>
            <a:pPr algn="l"/>
            <a:r>
              <a:rPr sz="1300" b="0" i="0">
                <a:solidFill>
                  <a:srgbClr val="CBD5E1"/>
                </a:solidFill>
                <a:latin typeface="Calibri"/>
              </a:rPr>
              <a:t>Recommendations are prepared, but high-impact action stays authorized.</a:t>
            </a:r>
          </a:p>
        </p:txBody>
      </p:sp>
      <p:sp>
        <p:nvSpPr>
          <p:cNvPr id="21" name="Rounded Rectangle 20"/>
          <p:cNvSpPr/>
          <p:nvPr/>
        </p:nvSpPr>
        <p:spPr>
          <a:xfrm>
            <a:off x="457200" y="3703320"/>
            <a:ext cx="3657600" cy="21031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703320"/>
            <a:ext cx="64008" cy="210312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3849624"/>
            <a:ext cx="3337560" cy="329184"/>
          </a:xfrm>
          <a:prstGeom prst="rect">
            <a:avLst/>
          </a:prstGeom>
          <a:noFill/>
        </p:spPr>
        <p:txBody>
          <a:bodyPr wrap="square" anchor="t"/>
          <a:lstStyle/>
          <a:p>
            <a:pPr algn="l"/>
            <a:r>
              <a:rPr sz="1600" b="1" i="0">
                <a:solidFill>
                  <a:srgbClr val="F5F7FA"/>
                </a:solidFill>
                <a:latin typeface="Calibri"/>
              </a:rPr>
              <a:t>Institutional memory</a:t>
            </a:r>
          </a:p>
        </p:txBody>
      </p:sp>
      <p:sp>
        <p:nvSpPr>
          <p:cNvPr id="24" name="TextBox 23"/>
          <p:cNvSpPr txBox="1"/>
          <p:nvPr/>
        </p:nvSpPr>
        <p:spPr>
          <a:xfrm>
            <a:off x="658368" y="4178808"/>
            <a:ext cx="3337560" cy="1517904"/>
          </a:xfrm>
          <a:prstGeom prst="rect">
            <a:avLst/>
          </a:prstGeom>
          <a:noFill/>
        </p:spPr>
        <p:txBody>
          <a:bodyPr wrap="square" anchor="t"/>
          <a:lstStyle/>
          <a:p>
            <a:pPr algn="l"/>
            <a:r>
              <a:rPr sz="1300" b="0" i="0">
                <a:solidFill>
                  <a:srgbClr val="CBD5E1"/>
                </a:solidFill>
                <a:latin typeface="Calibri"/>
              </a:rPr>
              <a:t>Incidents become lessons the system can reuse.</a:t>
            </a:r>
          </a:p>
        </p:txBody>
      </p:sp>
      <p:sp>
        <p:nvSpPr>
          <p:cNvPr id="25" name="Rounded Rectangle 24"/>
          <p:cNvSpPr/>
          <p:nvPr/>
        </p:nvSpPr>
        <p:spPr>
          <a:xfrm>
            <a:off x="4297680" y="3703320"/>
            <a:ext cx="3657600" cy="21031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97680" y="3703320"/>
            <a:ext cx="64008" cy="210312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98848" y="3849624"/>
            <a:ext cx="3337560" cy="329184"/>
          </a:xfrm>
          <a:prstGeom prst="rect">
            <a:avLst/>
          </a:prstGeom>
          <a:noFill/>
        </p:spPr>
        <p:txBody>
          <a:bodyPr wrap="square" anchor="t"/>
          <a:lstStyle/>
          <a:p>
            <a:pPr algn="l"/>
            <a:r>
              <a:rPr sz="1600" b="1" i="0">
                <a:solidFill>
                  <a:srgbClr val="F5F7FA"/>
                </a:solidFill>
                <a:latin typeface="Calibri"/>
              </a:rPr>
              <a:t>Lower fatigue</a:t>
            </a:r>
          </a:p>
        </p:txBody>
      </p:sp>
      <p:sp>
        <p:nvSpPr>
          <p:cNvPr id="28" name="TextBox 27"/>
          <p:cNvSpPr txBox="1"/>
          <p:nvPr/>
        </p:nvSpPr>
        <p:spPr>
          <a:xfrm>
            <a:off x="4498848" y="4178808"/>
            <a:ext cx="3337560" cy="1517904"/>
          </a:xfrm>
          <a:prstGeom prst="rect">
            <a:avLst/>
          </a:prstGeom>
          <a:noFill/>
        </p:spPr>
        <p:txBody>
          <a:bodyPr wrap="square" anchor="t"/>
          <a:lstStyle/>
          <a:p>
            <a:pPr algn="l"/>
            <a:r>
              <a:rPr sz="1300" b="0" i="0">
                <a:solidFill>
                  <a:srgbClr val="CBD5E1"/>
                </a:solidFill>
                <a:latin typeface="Calibri"/>
              </a:rPr>
              <a:t>Coordination reduces noise and highlights what is actually urgent.</a:t>
            </a:r>
          </a:p>
        </p:txBody>
      </p:sp>
      <p:sp>
        <p:nvSpPr>
          <p:cNvPr id="29" name="Rounded Rectangle 28"/>
          <p:cNvSpPr/>
          <p:nvPr/>
        </p:nvSpPr>
        <p:spPr>
          <a:xfrm>
            <a:off x="8138160" y="3703320"/>
            <a:ext cx="3657600" cy="210312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38160" y="3703320"/>
            <a:ext cx="64008" cy="210312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39328" y="3849624"/>
            <a:ext cx="3337560" cy="329184"/>
          </a:xfrm>
          <a:prstGeom prst="rect">
            <a:avLst/>
          </a:prstGeom>
          <a:noFill/>
        </p:spPr>
        <p:txBody>
          <a:bodyPr wrap="square" anchor="t"/>
          <a:lstStyle/>
          <a:p>
            <a:pPr algn="l"/>
            <a:r>
              <a:rPr sz="1600" b="1" i="0">
                <a:solidFill>
                  <a:srgbClr val="F5F7FA"/>
                </a:solidFill>
                <a:latin typeface="Calibri"/>
              </a:rPr>
              <a:t>Human amplification</a:t>
            </a:r>
          </a:p>
        </p:txBody>
      </p:sp>
      <p:sp>
        <p:nvSpPr>
          <p:cNvPr id="32" name="TextBox 31"/>
          <p:cNvSpPr txBox="1"/>
          <p:nvPr/>
        </p:nvSpPr>
        <p:spPr>
          <a:xfrm>
            <a:off x="8339328" y="4178808"/>
            <a:ext cx="3337560" cy="1517904"/>
          </a:xfrm>
          <a:prstGeom prst="rect">
            <a:avLst/>
          </a:prstGeom>
          <a:noFill/>
        </p:spPr>
        <p:txBody>
          <a:bodyPr wrap="square" anchor="t"/>
          <a:lstStyle/>
          <a:p>
            <a:pPr algn="l"/>
            <a:r>
              <a:rPr sz="1300" b="0" i="0">
                <a:solidFill>
                  <a:srgbClr val="CBD5E1"/>
                </a:solidFill>
                <a:latin typeface="Calibri"/>
              </a:rPr>
              <a:t>Our goal is not to replace professionals. It is to amplify them.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510528"/>
            <a:ext cx="7315200" cy="256032"/>
          </a:xfrm>
          <a:prstGeom prst="rect">
            <a:avLst/>
          </a:prstGeom>
          <a:noFill/>
        </p:spPr>
        <p:txBody>
          <a:bodyPr wrap="square" anchor="t"/>
          <a:lstStyle/>
          <a:p>
            <a:pPr algn="l"/>
            <a:r>
              <a:rPr sz="1100" b="0" i="0">
                <a:solidFill>
                  <a:srgbClr val="9AABC4"/>
                </a:solidFill>
                <a:latin typeface="Calibri"/>
              </a:rPr>
              <a:t>VRINDHA AI  ·  Intelligent Cybersecurity &amp; SOC System</a:t>
            </a:r>
          </a:p>
        </p:txBody>
      </p:sp>
      <p:sp>
        <p:nvSpPr>
          <p:cNvPr id="5" name="TextBox 4"/>
          <p:cNvSpPr txBox="1"/>
          <p:nvPr/>
        </p:nvSpPr>
        <p:spPr>
          <a:xfrm>
            <a:off x="10607040" y="6510528"/>
            <a:ext cx="1280160" cy="256032"/>
          </a:xfrm>
          <a:prstGeom prst="rect">
            <a:avLst/>
          </a:prstGeom>
          <a:noFill/>
        </p:spPr>
        <p:txBody>
          <a:bodyPr wrap="square" anchor="t"/>
          <a:lstStyle/>
          <a:p>
            <a:pPr algn="r"/>
            <a:r>
              <a:rPr sz="1100" b="0" i="0">
                <a:solidFill>
                  <a:srgbClr val="9AABC4"/>
                </a:solidFill>
                <a:latin typeface="Calibri"/>
              </a:rPr>
              <a:t>15  /  16</a:t>
            </a:r>
          </a:p>
        </p:txBody>
      </p:sp>
      <p:sp>
        <p:nvSpPr>
          <p:cNvPr id="6" name="TextBox 5"/>
          <p:cNvSpPr txBox="1"/>
          <p:nvPr/>
        </p:nvSpPr>
        <p:spPr>
          <a:xfrm>
            <a:off x="457200" y="256032"/>
            <a:ext cx="10972800" cy="256032"/>
          </a:xfrm>
          <a:prstGeom prst="rect">
            <a:avLst/>
          </a:prstGeom>
          <a:noFill/>
        </p:spPr>
        <p:txBody>
          <a:bodyPr wrap="square" anchor="t"/>
          <a:lstStyle/>
          <a:p>
            <a:pPr algn="l"/>
            <a:r>
              <a:rPr sz="1200" b="1" i="0">
                <a:solidFill>
                  <a:srgbClr val="22D3EE"/>
                </a:solidFill>
                <a:latin typeface="Calibri"/>
              </a:rPr>
              <a:t>14  ·  CLOSING</a:t>
            </a:r>
          </a:p>
        </p:txBody>
      </p:sp>
      <p:sp>
        <p:nvSpPr>
          <p:cNvPr id="7" name="TextBox 6"/>
          <p:cNvSpPr txBox="1"/>
          <p:nvPr/>
        </p:nvSpPr>
        <p:spPr>
          <a:xfrm>
            <a:off x="457200" y="475488"/>
            <a:ext cx="11247120" cy="640080"/>
          </a:xfrm>
          <a:prstGeom prst="rect">
            <a:avLst/>
          </a:prstGeom>
          <a:noFill/>
        </p:spPr>
        <p:txBody>
          <a:bodyPr wrap="square" anchor="t"/>
          <a:lstStyle/>
          <a:p>
            <a:pPr algn="l"/>
            <a:r>
              <a:rPr sz="3000" b="1" i="0">
                <a:solidFill>
                  <a:srgbClr val="F5F7FA"/>
                </a:solidFill>
                <a:latin typeface="Calibri"/>
              </a:rPr>
              <a:t>The future is not humans versus AI</a:t>
            </a:r>
          </a:p>
        </p:txBody>
      </p:sp>
      <p:sp>
        <p:nvSpPr>
          <p:cNvPr id="8" name="Rectangle 7"/>
          <p:cNvSpPr/>
          <p:nvPr/>
        </p:nvSpPr>
        <p:spPr>
          <a:xfrm>
            <a:off x="457200" y="1097280"/>
            <a:ext cx="1280160" cy="4445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losing_together.png"/>
          <p:cNvPicPr>
            <a:picLocks noChangeAspect="1"/>
          </p:cNvPicPr>
          <p:nvPr/>
        </p:nvPicPr>
        <p:blipFill>
          <a:blip r:embed="rId2"/>
          <a:stretch>
            <a:fillRect/>
          </a:stretch>
        </p:blipFill>
        <p:spPr>
          <a:xfrm>
            <a:off x="7452360" y="1417320"/>
            <a:ext cx="4297680" cy="4709160"/>
          </a:xfrm>
          <a:prstGeom prst="rect">
            <a:avLst/>
          </a:prstGeom>
        </p:spPr>
      </p:pic>
      <p:sp>
        <p:nvSpPr>
          <p:cNvPr id="10" name="TextBox 9"/>
          <p:cNvSpPr txBox="1"/>
          <p:nvPr/>
        </p:nvSpPr>
        <p:spPr>
          <a:xfrm>
            <a:off x="457200" y="1463040"/>
            <a:ext cx="6766560" cy="2103120"/>
          </a:xfrm>
          <a:prstGeom prst="rect">
            <a:avLst/>
          </a:prstGeom>
          <a:noFill/>
        </p:spPr>
        <p:txBody>
          <a:bodyPr wrap="square" anchor="t"/>
          <a:lstStyle/>
          <a:p>
            <a:pPr algn="l"/>
            <a:r>
              <a:rPr sz="1800" b="0" i="0">
                <a:solidFill>
                  <a:srgbClr val="F5F7FA"/>
                </a:solidFill>
                <a:latin typeface="Calibri"/>
              </a:rPr>
              <a:t>Our vision with Vrindha is not to build an AI that acts without limits. Our vision is to build an AI that understands threats, coordinates intelligence, assists humans, learns from incidents, and protects systems responsibly.</a:t>
            </a:r>
          </a:p>
        </p:txBody>
      </p:sp>
      <p:sp>
        <p:nvSpPr>
          <p:cNvPr id="11" name="Rounded Rectangle 10"/>
          <p:cNvSpPr/>
          <p:nvPr/>
        </p:nvSpPr>
        <p:spPr>
          <a:xfrm>
            <a:off x="457200" y="3794760"/>
            <a:ext cx="6766560" cy="2148840"/>
          </a:xfrm>
          <a:prstGeom prst="roundRect">
            <a:avLst>
              <a:gd name="adj" fmla="val 8000"/>
            </a:avLst>
          </a:prstGeom>
          <a:solidFill>
            <a:srgbClr val="12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794760"/>
            <a:ext cx="73152" cy="2148840"/>
          </a:xfrm>
          <a:prstGeom prst="rect">
            <a:avLst/>
          </a:prstGeom>
          <a:solidFill>
            <a:srgbClr val="E8C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977639"/>
            <a:ext cx="6309360" cy="1783080"/>
          </a:xfrm>
          <a:prstGeom prst="rect">
            <a:avLst/>
          </a:prstGeom>
          <a:noFill/>
        </p:spPr>
        <p:txBody>
          <a:bodyPr wrap="square" anchor="t"/>
          <a:lstStyle/>
          <a:p>
            <a:pPr algn="l"/>
            <a:r>
              <a:rPr sz="1700" b="0" i="1">
                <a:solidFill>
                  <a:srgbClr val="E8C36A"/>
                </a:solidFill>
                <a:latin typeface="Calibri"/>
              </a:rPr>
              <a:t>Because the future of cybersecurity is not humans versus AI.
It is humans and AI working together — with intelligence, authorization, and responsibility.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le_hero.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itle_hero.png"/>
          <p:cNvPicPr>
            <a:picLocks noChangeAspect="1"/>
          </p:cNvPicPr>
          <p:nvPr/>
        </p:nvPicPr>
        <p:blipFill>
          <a:blip r:embed="rId2"/>
          <a:stretch>
            <a:fillRect/>
          </a:stretch>
        </p:blipFill>
        <p:spPr>
          <a:xfrm>
            <a:off x="7680960" y="0"/>
            <a:ext cx="4517136" cy="6858000"/>
          </a:xfrm>
          <a:prstGeom prst="rect">
            <a:avLst/>
          </a:prstGeom>
        </p:spPr>
      </p:pic>
      <p:sp>
        <p:nvSpPr>
          <p:cNvPr id="5" name="Rectangle 4"/>
          <p:cNvSpPr/>
          <p:nvPr/>
        </p:nvSpPr>
        <p:spPr>
          <a:xfrm>
            <a:off x="7452360" y="0"/>
            <a:ext cx="365760" cy="6858000"/>
          </a:xfrm>
          <a:prstGeom prst="rect">
            <a:avLst/>
          </a:prstGeom>
          <a:solidFill>
            <a:srgbClr val="08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6583680" cy="320040"/>
          </a:xfrm>
          <a:prstGeom prst="rect">
            <a:avLst/>
          </a:prstGeom>
          <a:noFill/>
        </p:spPr>
        <p:txBody>
          <a:bodyPr wrap="square" anchor="t"/>
          <a:lstStyle/>
          <a:p>
            <a:pPr algn="l"/>
            <a:r>
              <a:rPr sz="1400" b="1" i="0">
                <a:solidFill>
                  <a:srgbClr val="22D3EE"/>
                </a:solidFill>
                <a:latin typeface="Calibri"/>
              </a:rPr>
              <a:t>THANK YOU</a:t>
            </a:r>
          </a:p>
        </p:txBody>
      </p:sp>
      <p:sp>
        <p:nvSpPr>
          <p:cNvPr id="7" name="TextBox 6"/>
          <p:cNvSpPr txBox="1"/>
          <p:nvPr/>
        </p:nvSpPr>
        <p:spPr>
          <a:xfrm>
            <a:off x="640080" y="1965960"/>
            <a:ext cx="6583680" cy="1005840"/>
          </a:xfrm>
          <a:prstGeom prst="rect">
            <a:avLst/>
          </a:prstGeom>
          <a:noFill/>
        </p:spPr>
        <p:txBody>
          <a:bodyPr wrap="square" anchor="t"/>
          <a:lstStyle/>
          <a:p>
            <a:pPr algn="l"/>
            <a:r>
              <a:rPr sz="4400" b="1" i="0">
                <a:solidFill>
                  <a:srgbClr val="F5F7FA"/>
                </a:solidFill>
                <a:latin typeface="Calibri"/>
              </a:rPr>
              <a:t>Questions welcome.</a:t>
            </a:r>
          </a:p>
        </p:txBody>
      </p:sp>
      <p:sp>
        <p:nvSpPr>
          <p:cNvPr id="8" name="Rectangle 7"/>
          <p:cNvSpPr/>
          <p:nvPr/>
        </p:nvSpPr>
        <p:spPr>
          <a:xfrm>
            <a:off x="640080" y="3108960"/>
            <a:ext cx="1371600" cy="44450"/>
          </a:xfrm>
          <a:prstGeom prst="rect">
            <a:avLst/>
          </a:prstGeom>
          <a:solidFill>
            <a:srgbClr val="E8C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383280"/>
            <a:ext cx="6492240" cy="1280160"/>
          </a:xfrm>
          <a:prstGeom prst="rect">
            <a:avLst/>
          </a:prstGeom>
          <a:noFill/>
        </p:spPr>
        <p:txBody>
          <a:bodyPr wrap="square" anchor="t"/>
          <a:lstStyle/>
          <a:p>
            <a:pPr algn="l"/>
            <a:r>
              <a:rPr sz="1800" b="0" i="0">
                <a:solidFill>
                  <a:srgbClr val="CBD5E1"/>
                </a:solidFill>
                <a:latin typeface="Calibri"/>
              </a:rPr>
              <a:t>Vrindha AI — defensive cybersecurity with coordinated intelligence and human authorization.</a:t>
            </a:r>
          </a:p>
        </p:txBody>
      </p:sp>
      <p:sp>
        <p:nvSpPr>
          <p:cNvPr id="10" name="TextBox 9"/>
          <p:cNvSpPr txBox="1"/>
          <p:nvPr/>
        </p:nvSpPr>
        <p:spPr>
          <a:xfrm>
            <a:off x="640080" y="4846320"/>
            <a:ext cx="6492240" cy="822960"/>
          </a:xfrm>
          <a:prstGeom prst="rect">
            <a:avLst/>
          </a:prstGeom>
          <a:noFill/>
        </p:spPr>
        <p:txBody>
          <a:bodyPr wrap="square" anchor="t"/>
          <a:lstStyle/>
          <a:p>
            <a:pPr algn="l"/>
            <a:r>
              <a:rPr sz="1600" b="0" i="0">
                <a:solidFill>
                  <a:srgbClr val="E8C36A"/>
                </a:solidFill>
                <a:latin typeface="Calibri"/>
              </a:rPr>
              <a:t>Detect  →  Understand  →  Correlate  →  Analyze
Recommend  →  Human Approval  →  Defend  →  Learn</a:t>
            </a:r>
          </a:p>
        </p:txBody>
      </p:sp>
      <p:sp>
        <p:nvSpPr>
          <p:cNvPr id="11" name="TextBox 10"/>
          <p:cNvSpPr txBox="1"/>
          <p:nvPr/>
        </p:nvSpPr>
        <p:spPr>
          <a:xfrm>
            <a:off x="640080" y="5989320"/>
            <a:ext cx="6492240" cy="320040"/>
          </a:xfrm>
          <a:prstGeom prst="rect">
            <a:avLst/>
          </a:prstGeom>
          <a:noFill/>
        </p:spPr>
        <p:txBody>
          <a:bodyPr wrap="square" anchor="t"/>
          <a:lstStyle/>
          <a:p>
            <a:pPr algn="l"/>
            <a:r>
              <a:rPr sz="1400" b="0" i="0">
                <a:solidFill>
                  <a:srgbClr val="9AABC4"/>
                </a:solidFill>
                <a:latin typeface="Calibri"/>
              </a:rPr>
              <a:t>Thank you, judges and audience.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